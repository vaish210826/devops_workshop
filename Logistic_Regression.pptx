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49" r:id="rId3"/>
    <p:sldId id="257" r:id="rId4"/>
    <p:sldId id="348" r:id="rId5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7" r:id="rId15"/>
    <p:sldId id="476" r:id="rId16"/>
    <p:sldId id="478" r:id="rId17"/>
    <p:sldId id="479" r:id="rId18"/>
    <p:sldId id="480" r:id="rId19"/>
    <p:sldId id="410" r:id="rId20"/>
    <p:sldId id="481" r:id="rId21"/>
    <p:sldId id="482" r:id="rId22"/>
    <p:sldId id="483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3" r:id="rId33"/>
    <p:sldId id="494" r:id="rId34"/>
    <p:sldId id="495" r:id="rId35"/>
    <p:sldId id="496" r:id="rId36"/>
    <p:sldId id="497" r:id="rId37"/>
    <p:sldId id="498" r:id="rId38"/>
    <p:sldId id="499" r:id="rId39"/>
    <p:sldId id="500" r:id="rId40"/>
    <p:sldId id="501" r:id="rId41"/>
    <p:sldId id="502" r:id="rId42"/>
    <p:sldId id="503" r:id="rId43"/>
    <p:sldId id="504" r:id="rId44"/>
    <p:sldId id="505" r:id="rId45"/>
    <p:sldId id="506" r:id="rId46"/>
    <p:sldId id="507" r:id="rId47"/>
    <p:sldId id="508" r:id="rId48"/>
    <p:sldId id="509" r:id="rId49"/>
    <p:sldId id="510" r:id="rId50"/>
    <p:sldId id="511" r:id="rId51"/>
    <p:sldId id="512" r:id="rId52"/>
    <p:sldId id="513" r:id="rId53"/>
    <p:sldId id="514" r:id="rId54"/>
    <p:sldId id="515" r:id="rId55"/>
    <p:sldId id="516" r:id="rId56"/>
    <p:sldId id="517" r:id="rId57"/>
    <p:sldId id="518" r:id="rId58"/>
    <p:sldId id="519" r:id="rId59"/>
    <p:sldId id="520" r:id="rId60"/>
    <p:sldId id="521" r:id="rId61"/>
    <p:sldId id="522" r:id="rId62"/>
    <p:sldId id="523" r:id="rId63"/>
    <p:sldId id="524" r:id="rId64"/>
    <p:sldId id="525" r:id="rId65"/>
    <p:sldId id="526" r:id="rId66"/>
    <p:sldId id="527" r:id="rId67"/>
    <p:sldId id="528" r:id="rId68"/>
    <p:sldId id="529" r:id="rId69"/>
    <p:sldId id="530" r:id="rId70"/>
    <p:sldId id="531" r:id="rId71"/>
    <p:sldId id="532" r:id="rId72"/>
    <p:sldId id="533" r:id="rId73"/>
    <p:sldId id="534" r:id="rId74"/>
    <p:sldId id="535" r:id="rId75"/>
    <p:sldId id="536" r:id="rId76"/>
    <p:sldId id="537" r:id="rId77"/>
    <p:sldId id="538" r:id="rId78"/>
    <p:sldId id="539" r:id="rId79"/>
    <p:sldId id="540" r:id="rId80"/>
    <p:sldId id="541" r:id="rId81"/>
    <p:sldId id="542" r:id="rId82"/>
    <p:sldId id="543" r:id="rId83"/>
    <p:sldId id="544" r:id="rId84"/>
    <p:sldId id="545" r:id="rId85"/>
    <p:sldId id="546" r:id="rId86"/>
    <p:sldId id="547" r:id="rId87"/>
    <p:sldId id="548" r:id="rId88"/>
    <p:sldId id="314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slide" Target="slides/slide75.xml" /><Relationship Id="rId84" Type="http://schemas.openxmlformats.org/officeDocument/2006/relationships/slide" Target="slides/slide83.xml" /><Relationship Id="rId89" Type="http://schemas.openxmlformats.org/officeDocument/2006/relationships/slide" Target="slides/slide88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slide" Target="slides/slide86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presProps" Target="presProps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93" Type="http://schemas.openxmlformats.org/officeDocument/2006/relationships/tableStyles" Target="tableStyle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5:12:15.9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1 306 2841,'0'0'15478,"19"0"-12675,10 0-2571,0-2 0,-1-2 1,1 0-1,-1-2 0,33-10 0,183-60-1092,121-59-5270,-212 72 471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5:12:15.9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1 306 2841,'0'0'15478,"19"0"-12675,10 0-2571,0-2 0,-1-2 1,1 0-1,-1-2 0,33-10 0,183-60-1092,121-59-5270,-212 72 471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4878-D07C-0BE6-DC19-7FA7E31A0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0000C-3990-5039-0CA5-6A23142B4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3E511-A02D-7F0D-9590-3610A26C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18D8B-C48C-A29F-900D-877F3727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4B37C-5A2F-2690-7567-3D6CDCEC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9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6870-8159-533F-1001-49735526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7B4B-64FD-67E9-2D3F-C8C158D44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6C2F-C1C7-A60D-F965-B5877C98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6BED9-C844-89B1-8687-B1BDF450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69B1A-0A76-E9DF-D3D8-C5B591C9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2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8AB1-B884-2B9B-1A91-A4E57CDE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0DA13-DD69-A91E-B336-4C928E1B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AF0F-E3B6-2051-C2CA-8A8137B1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11C2B-72B5-2C2D-7573-B6663A7E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C5DE9-4A6B-A885-F77E-773B8C2B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49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C340-ACA8-9349-2898-9CC053A49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DB554-66CB-55E2-F8F1-D20E235A0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A69DA-F25E-6DFB-D35A-61398F651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332FC-1DBB-0F47-60D0-D7054708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5032A-2C51-1554-0660-D23AF754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1C6ED-43D8-358C-1D62-9B456D08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37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CD051-1512-DE22-6CBA-57717CE6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239BA-04E0-E1B5-201F-042F35BB5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F3F33-ADF4-2FD9-9484-754BB530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8C461-A573-9844-60E6-4495585A1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9C1B0-A1E2-9111-7920-0055C5F7D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CB188-B13C-7406-E8F5-A80A5684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A700B-6CD4-4D1E-E1C8-A808A177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80FEE-08A2-5B16-5D14-BD8E4781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4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DBBA-1634-C6C1-2FD1-D097A8F3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732E3-A630-D910-1AA5-B17C777A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60F0A-73E3-673D-2E3C-0257608D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6C202-8FF4-D40A-96BF-3D49F6D8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13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3DF52-69BD-0F7E-F9D8-7EBB2981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9E952-9721-D6B9-B169-9B19BA90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29118-0800-B298-D751-288D98D5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5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4387-40D8-A4C4-CBFA-378FD792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B345-70D4-BB42-F56F-CE1785015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0EA5F-1E55-2342-D01E-AAC08EC19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3BB65-A6BD-9BB2-FA7A-29279714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82F84-7726-D1E2-F197-4D7037BD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BEFC8-C020-CDC2-CFCC-C4EEAF6C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16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75E4-A59C-6431-DAD3-F3FC8252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FEB29-75E0-A66A-27F2-AD6418774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7B37F-4BBE-CF6B-2BAF-6AD2ED6B7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FC5D8-7193-BC77-A2E9-7C48327F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193DD-17DB-5A73-20FA-AB716865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68708-79F0-520E-89DA-B5ADD5F2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25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F247-0B87-F88A-B116-76D5FDE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29D07-BFA8-A1C3-EE08-F1C3E1487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AFD60-8AB3-D7F5-EFCF-8BB0FD12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4745-7449-6842-861D-8707698C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343DF-FF24-180F-8172-8C074F3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65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CE6CC-9EDF-8724-AD7C-560F3014D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90677-69CB-9647-47A1-DCDEB4206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DB2E0-27D2-333F-366E-330AFC6E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12C4-4277-E5DF-6D76-0F3DAB83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0BC5A-00EA-B6D6-BF55-0CC922AE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1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58E39-07CF-D835-F410-B071711E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60D1A-3A64-7B34-25E0-F40CCBF18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853AE-5C11-19C0-622B-6922DBC9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85862-502C-465C-80D9-4A38FCB63B7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EAED-CCA3-EEDF-3D12-E77427FE5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D74B-1A30-CF24-F7B7-A62C85B7C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6C908-3AF1-4EDB-96D3-AA3C01DF4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8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customXml" Target="../ink/ink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customXml" Target="../ink/ink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110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310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0.png" 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 /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 /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 /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 /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9.png" 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 /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 /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2" Type="http://schemas.openxmlformats.org/officeDocument/2006/relationships/image" Target="../media/image55.png" /><Relationship Id="rId1" Type="http://schemas.openxmlformats.org/officeDocument/2006/relationships/slideLayout" Target="../slideLayouts/slideLayout2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 /><Relationship Id="rId2" Type="http://schemas.openxmlformats.org/officeDocument/2006/relationships/image" Target="../media/image58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9.png" 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2.xml" 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 /><Relationship Id="rId2" Type="http://schemas.openxmlformats.org/officeDocument/2006/relationships/image" Target="../media/image63.png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 /><Relationship Id="rId2" Type="http://schemas.openxmlformats.org/officeDocument/2006/relationships/image" Target="../media/image6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6.png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 /><Relationship Id="rId1" Type="http://schemas.openxmlformats.org/officeDocument/2006/relationships/slideLayout" Target="../slideLayouts/slideLayout2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 /><Relationship Id="rId1" Type="http://schemas.openxmlformats.org/officeDocument/2006/relationships/slideLayout" Target="../slideLayouts/slideLayout2.xml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 /><Relationship Id="rId1" Type="http://schemas.openxmlformats.org/officeDocument/2006/relationships/slideLayout" Target="../slideLayouts/slideLayout2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2.xml" 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 /><Relationship Id="rId1" Type="http://schemas.openxmlformats.org/officeDocument/2006/relationships/slideLayout" Target="../slideLayouts/slideLayout2.xml" 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 /><Relationship Id="rId1" Type="http://schemas.openxmlformats.org/officeDocument/2006/relationships/slideLayout" Target="../slideLayouts/slideLayout2.xml" 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 /><Relationship Id="rId1" Type="http://schemas.openxmlformats.org/officeDocument/2006/relationships/slideLayout" Target="../slideLayouts/slideLayout2.xml" 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 /><Relationship Id="rId1" Type="http://schemas.openxmlformats.org/officeDocument/2006/relationships/slideLayout" Target="../slideLayouts/slideLayout2.xml" 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 /><Relationship Id="rId1" Type="http://schemas.openxmlformats.org/officeDocument/2006/relationships/slideLayout" Target="../slideLayouts/slideLayout2.xml" 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 /><Relationship Id="rId1" Type="http://schemas.openxmlformats.org/officeDocument/2006/relationships/slideLayout" Target="../slideLayouts/slideLayout2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 /><Relationship Id="rId1" Type="http://schemas.openxmlformats.org/officeDocument/2006/relationships/slideLayout" Target="../slideLayouts/slideLayout2.xml" 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 /><Relationship Id="rId1" Type="http://schemas.openxmlformats.org/officeDocument/2006/relationships/slideLayout" Target="../slideLayouts/slideLayout2.xml" 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 /><Relationship Id="rId1" Type="http://schemas.openxmlformats.org/officeDocument/2006/relationships/slideLayout" Target="../slideLayouts/slideLayout2.xml" 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5A8E-BCA9-19D1-DA6E-8479262F1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2" y="2382783"/>
            <a:ext cx="9612086" cy="86591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  <a:endParaRPr lang="en-IN" sz="4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9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2E88-F4A7-B941-A723-F3770AA1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5B69-C160-BB19-390F-15D3CF2F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1145-B5D3-C47E-EF45-54BE1C2F7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375580" cy="517071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Introduction &amp; Motivation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IN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63220C-5BC3-6D7B-19E2-EDD4FC9C87D8}"/>
                  </a:ext>
                </a:extLst>
              </p14:cNvPr>
              <p14:cNvContentPartPr/>
              <p14:nvPr/>
            </p14:nvContentPartPr>
            <p14:xfrm>
              <a:off x="8423657" y="2543726"/>
              <a:ext cx="354960" cy="11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63220C-5BC3-6D7B-19E2-EDD4FC9C87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5657" y="2525726"/>
                <a:ext cx="390600" cy="1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117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D554-0F4A-31B8-50C4-35F45BAF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2DB9-7674-DF22-CD29-6AFD5C6EA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375580" cy="51707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C00000"/>
                </a:solidFill>
              </a:rPr>
              <a:t>7. Maximum Likelihood Estimation (MLE)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C00000"/>
                </a:solidFill>
              </a:rPr>
              <a:t>8. Gradient Descent Optimization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C00000"/>
                </a:solidFill>
              </a:rPr>
              <a:t>9. Regularization (L1 &amp; L2)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C00000"/>
                </a:solidFill>
              </a:rPr>
              <a:t>10. Performance Metrics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IN" sz="3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1A7FA6-2BD8-46E6-EE75-4EA865BD2600}"/>
                  </a:ext>
                </a:extLst>
              </p14:cNvPr>
              <p14:cNvContentPartPr/>
              <p14:nvPr/>
            </p14:nvContentPartPr>
            <p14:xfrm>
              <a:off x="8423657" y="2543726"/>
              <a:ext cx="354960" cy="11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1A7FA6-2BD8-46E6-EE75-4EA865BD26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6017" y="2525726"/>
                <a:ext cx="390600" cy="1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796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A1DD-69EC-4469-B0CB-79B6A89A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0674-A22B-1BC3-38C5-9183046E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FE590-9435-5BF1-E5A1-F7A8AD72F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1.Why Do We Need Logistic Regression</a:t>
            </a:r>
            <a:r>
              <a:rPr lang="en-US" sz="2400" b="1" dirty="0"/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 many </a:t>
            </a:r>
            <a:r>
              <a:rPr lang="en-US" sz="2400" b="1" dirty="0"/>
              <a:t>real-world machine learning problems</a:t>
            </a:r>
            <a:r>
              <a:rPr lang="en-US" sz="2400" dirty="0"/>
              <a:t>, the goal is </a:t>
            </a:r>
            <a:r>
              <a:rPr lang="en-US" sz="2400" b="1" dirty="0"/>
              <a:t>not to predict a continuous value</a:t>
            </a:r>
            <a:r>
              <a:rPr lang="en-US" sz="2400" dirty="0"/>
              <a:t>, but to </a:t>
            </a:r>
            <a:r>
              <a:rPr lang="en-US" sz="2400" b="1" dirty="0"/>
              <a:t>make a decision between classes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Is this email </a:t>
            </a:r>
            <a:r>
              <a:rPr lang="en-US" sz="2400" b="1" dirty="0"/>
              <a:t>Spam or Not Spam</a:t>
            </a:r>
            <a:r>
              <a:rPr lang="en-US" sz="2400" dirty="0"/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Does a patient have a </a:t>
            </a:r>
            <a:r>
              <a:rPr lang="en-US" sz="2400" b="1" dirty="0"/>
              <a:t>disease or no disease</a:t>
            </a:r>
            <a:r>
              <a:rPr lang="en-US" sz="2400" dirty="0"/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Is a network packet </a:t>
            </a:r>
            <a:r>
              <a:rPr lang="en-US" sz="2400" b="1" dirty="0"/>
              <a:t>malicious or normal</a:t>
            </a:r>
            <a:r>
              <a:rPr lang="en-US" sz="2400" dirty="0"/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Will a customer </a:t>
            </a:r>
            <a:r>
              <a:rPr lang="en-US" sz="2400" b="1" dirty="0"/>
              <a:t>buy or not buy</a:t>
            </a:r>
            <a:r>
              <a:rPr lang="en-US" sz="2400" dirty="0"/>
              <a:t> a product?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These problems are fundamentally </a:t>
            </a:r>
            <a:r>
              <a:rPr lang="en-US" sz="2400" b="1" dirty="0"/>
              <a:t>classification problems</a:t>
            </a:r>
            <a:r>
              <a:rPr lang="en-US" sz="2400" dirty="0"/>
              <a:t>, especially </a:t>
            </a:r>
            <a:r>
              <a:rPr lang="en-US" sz="2400" b="1" dirty="0"/>
              <a:t>binary classification</a:t>
            </a:r>
            <a:r>
              <a:rPr lang="en-US" sz="2400" dirty="0"/>
              <a:t>.</a:t>
            </a:r>
          </a:p>
        </p:txBody>
      </p:sp>
      <p:pic>
        <p:nvPicPr>
          <p:cNvPr id="1026" name="Picture 2" descr="Understanding Naive Bayes: A Simple Guide to Text ...">
            <a:extLst>
              <a:ext uri="{FF2B5EF4-FFF2-40B4-BE49-F238E27FC236}">
                <a16:creationId xmlns:a16="http://schemas.microsoft.com/office/drawing/2014/main" id="{611BD775-FE1C-CB0D-1D65-A92961744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223" y="4763973"/>
            <a:ext cx="5214823" cy="201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97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AAEA-2E89-358F-FD24-659C76AD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8BAF-92DF-8B74-6FAC-19D15B58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6CDD-D1CC-01DD-216D-511EC84D6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Why Not Use Linear Regression?</a:t>
                </a:r>
              </a:p>
              <a:p>
                <a:r>
                  <a:rPr lang="en-IN" sz="2400" dirty="0"/>
                  <a:t>Suppose we try to use linear regression:</a:t>
                </a:r>
              </a:p>
              <a:p>
                <a:pPr marL="0" indent="0">
                  <a:buNone/>
                </a:pPr>
                <a:endParaRPr lang="en-IN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/>
              </a:p>
              <a:p>
                <a:pPr marL="0" indent="0">
                  <a:buNone/>
                </a:pPr>
                <a:r>
                  <a:rPr lang="en-IN" sz="2400" b="1" dirty="0"/>
                  <a:t>Problems:</a:t>
                </a:r>
              </a:p>
              <a:p>
                <a:r>
                  <a:rPr lang="en-IN" sz="2400" b="1" dirty="0"/>
                  <a:t>Unbounded output</a:t>
                </a: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r>
                            <a:rPr lang="ar-AE" sz="2400" smtClean="0"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+∞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ar-AE" sz="2400" dirty="0"/>
                  <a:t>→ </a:t>
                </a:r>
                <a:r>
                  <a:rPr lang="en-IN" sz="2400" dirty="0"/>
                  <a:t>Cannot represent probability.</a:t>
                </a:r>
              </a:p>
              <a:p>
                <a:r>
                  <a:rPr lang="en-IN" sz="2400" b="1" dirty="0"/>
                  <a:t>No probabilistic meaning: </a:t>
                </a:r>
                <a:r>
                  <a:rPr lang="en-IN" sz="2400" dirty="0"/>
                  <a:t>Linear regression cannot answer:</a:t>
                </a:r>
              </a:p>
              <a:p>
                <a:r>
                  <a:rPr lang="en-IN" sz="2400" i="1" dirty="0"/>
                  <a:t>“What is the confidence of this decision?”</a:t>
                </a:r>
                <a:endParaRPr lang="en-IN" sz="2400" dirty="0"/>
              </a:p>
              <a:p>
                <a:r>
                  <a:rPr lang="en-IN" sz="2400" b="1" dirty="0"/>
                  <a:t>Poor decision boundaries: </a:t>
                </a:r>
                <a:r>
                  <a:rPr lang="en-IN" sz="2400" dirty="0"/>
                  <a:t>Small changes in input can cause large, unstable outputs.</a:t>
                </a:r>
              </a:p>
              <a:p>
                <a:r>
                  <a:rPr lang="en-IN" sz="2400" dirty="0"/>
                  <a:t>Classification requires outputs </a:t>
                </a:r>
                <a:r>
                  <a:rPr lang="en-IN" sz="2400" b="1" dirty="0"/>
                  <a:t>between 0 and 1</a:t>
                </a:r>
                <a:r>
                  <a:rPr lang="en-IN" sz="2400" dirty="0"/>
                  <a:t> with </a:t>
                </a:r>
                <a:r>
                  <a:rPr lang="en-IN" sz="2400" b="1" dirty="0"/>
                  <a:t>probabilistic interpretation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DD6CDD-D1CC-01DD-216D-511EC84D6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 b="-133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A2AAC18-890E-06DD-F02C-ABD104CD0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907" y="169178"/>
            <a:ext cx="5224093" cy="23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0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24B2-F9B6-CF71-9DA8-AEDB5543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FFCF-721B-5E38-3752-11E65CFE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5CC76E-CD97-8CC1-AD89-91B523627B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Problem Setup: Binary Classification</a:t>
                </a:r>
              </a:p>
              <a:p>
                <a:r>
                  <a:rPr lang="en-IN" sz="2400" dirty="0"/>
                  <a:t>We formalize the problem as follows:</a:t>
                </a:r>
              </a:p>
              <a:p>
                <a:r>
                  <a:rPr lang="en-IN" sz="2400" b="1" dirty="0"/>
                  <a:t>Input (Features)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 Output (Label)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ar-AE" sz="2400" dirty="0"/>
                  <a:t>: </a:t>
                </a:r>
                <a:r>
                  <a:rPr lang="en-IN" sz="2400" dirty="0"/>
                  <a:t>Positive class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400" dirty="0"/>
                  <a:t>: Negative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5CC76E-CD97-8CC1-AD89-91B523627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Why Logistic Regression Beats Linear Regression for ...">
            <a:extLst>
              <a:ext uri="{FF2B5EF4-FFF2-40B4-BE49-F238E27FC236}">
                <a16:creationId xmlns:a16="http://schemas.microsoft.com/office/drawing/2014/main" id="{F16B7A14-5265-02C6-10AE-6F20499A1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116" y="4420331"/>
            <a:ext cx="7770613" cy="226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64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CA8A-F6E3-5B56-E586-1F8F94A2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9944-A228-BEF1-854C-4DE8A2E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E18C-0582-BDB2-A785-00E72A7F9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4. Desired Model Properties</a:t>
            </a:r>
          </a:p>
          <a:p>
            <a:r>
              <a:rPr lang="en-US" sz="2400" dirty="0"/>
              <a:t>We want a model that: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1AAF20-E4B2-0525-FC1A-434FF2056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17918"/>
              </p:ext>
            </p:extLst>
          </p:nvPr>
        </p:nvGraphicFramePr>
        <p:xfrm>
          <a:off x="838200" y="2514017"/>
          <a:ext cx="10515600" cy="228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132198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4829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66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Outputs in ([0,1])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Probability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46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Smooth &amp; differentiable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Gradient-based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51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Linear decision 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Interpretability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57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Probabilistic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Risk-aware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547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036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253DB-F123-8218-74DC-C8DE4DAB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C783-41C1-695C-C488-F38D47E6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DAA327-0972-F7B1-96ED-78E1E3346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Introducing Logistic Regression</a:t>
                </a:r>
              </a:p>
              <a:p>
                <a:r>
                  <a:rPr lang="en-IN" sz="2400" dirty="0"/>
                  <a:t>Logistic regression solves the problem by:</a:t>
                </a:r>
              </a:p>
              <a:p>
                <a:r>
                  <a:rPr lang="en-IN" sz="2400" dirty="0"/>
                  <a:t>Computing a </a:t>
                </a:r>
                <a:r>
                  <a:rPr lang="en-IN" sz="2400" b="1" dirty="0"/>
                  <a:t>linear score</a:t>
                </a:r>
                <a:r>
                  <a:rPr lang="en-IN" sz="2400" dirty="0"/>
                  <a:t>:</a:t>
                </a:r>
              </a:p>
              <a:p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Passing it through a </a:t>
                </a:r>
                <a:r>
                  <a:rPr lang="en-IN" sz="2400" b="1" dirty="0"/>
                  <a:t>sigmoid function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This ensures: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DAA327-0972-F7B1-96ED-78E1E3346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Linear, Logistic Regression (Sigmoid function Applied ...">
            <a:extLst>
              <a:ext uri="{FF2B5EF4-FFF2-40B4-BE49-F238E27FC236}">
                <a16:creationId xmlns:a16="http://schemas.microsoft.com/office/drawing/2014/main" id="{5F2EC0A3-81D2-30E9-B56E-796C1523B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00" y="0"/>
            <a:ext cx="5839800" cy="263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2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2716-3392-7FB2-A84B-7D249D8F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1230-579A-F625-6694-9784A03F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C00000"/>
                </a:solidFill>
              </a:rPr>
              <a:t>Introduction &amp; Motivation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EE13-7525-7858-FFA5-ABC3D007A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6. Decision Rule</a:t>
                </a:r>
              </a:p>
              <a:p>
                <a:r>
                  <a:rPr lang="en-IN" sz="2400" dirty="0"/>
                  <a:t>To convert probability into a class label:</a:t>
                </a:r>
              </a:p>
              <a:p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=1∣</m:t>
                                    </m:r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≥0.5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endParaRPr lang="en-IN" sz="2400" dirty="0"/>
              </a:p>
              <a:p>
                <a:r>
                  <a:rPr lang="en-IN" sz="2400" dirty="0"/>
                  <a:t> The value </a:t>
                </a:r>
                <a:r>
                  <a:rPr lang="en-IN" sz="2400" b="1" dirty="0"/>
                  <a:t>0.5</a:t>
                </a:r>
                <a:r>
                  <a:rPr lang="en-IN" sz="2400" dirty="0"/>
                  <a:t> is a threshold (can be tuned).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CAEE13-7525-7858-FFA5-ABC3D007A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Plotting the decision boundary of a logistic regression model">
            <a:extLst>
              <a:ext uri="{FF2B5EF4-FFF2-40B4-BE49-F238E27FC236}">
                <a16:creationId xmlns:a16="http://schemas.microsoft.com/office/drawing/2014/main" id="{4854F8D5-8028-E518-32B4-29706474E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697" y="2974685"/>
            <a:ext cx="4553639" cy="341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76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7BDF-7E05-6972-B8E1-241ABC9A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24D3-EEB0-5B57-9AD3-FB13D0C4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Introduction &amp;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949D9-EE0E-5E45-AAB2-B13C35DE0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7. Practical Example </a:t>
                </a:r>
              </a:p>
              <a:p>
                <a:r>
                  <a:rPr lang="en-IN" sz="2400" b="1" dirty="0"/>
                  <a:t>Medical Diagnosis</a:t>
                </a:r>
                <a:endParaRPr lang="en-IN" sz="2400" dirty="0"/>
              </a:p>
              <a:p>
                <a:r>
                  <a:rPr lang="en-IN" sz="2400" dirty="0"/>
                  <a:t>Input: blood pressure, glucose, age</a:t>
                </a:r>
              </a:p>
              <a:p>
                <a:r>
                  <a:rPr lang="en-IN" sz="2400" dirty="0"/>
                  <a:t>Output: disease (1) / no disease (0)</a:t>
                </a:r>
              </a:p>
              <a:p>
                <a:r>
                  <a:rPr lang="en-IN" sz="2400" dirty="0"/>
                  <a:t>Logistic regression predicts: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i="1"/>
                            <m:t>disease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IN" sz="2400" i="1"/>
                            <m:t>features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=0.82</m:t>
                      </m:r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Doctor can:</a:t>
                </a:r>
              </a:p>
              <a:p>
                <a:r>
                  <a:rPr lang="en-IN" sz="2400" dirty="0"/>
                  <a:t>Make decision (yes/no)</a:t>
                </a:r>
              </a:p>
              <a:p>
                <a:r>
                  <a:rPr lang="en-IN" sz="2400" dirty="0"/>
                  <a:t>Assess </a:t>
                </a:r>
                <a:r>
                  <a:rPr lang="en-IN" sz="2400" b="1" dirty="0"/>
                  <a:t>risk level</a:t>
                </a:r>
                <a:endParaRPr lang="en-IN" sz="2400" dirty="0"/>
              </a:p>
              <a:p>
                <a:r>
                  <a:rPr lang="en-IN" sz="2400" dirty="0"/>
                  <a:t>Adjust threshold based on consequences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949D9-EE0E-5E45-AAB2-B13C35DE0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62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9851-77A0-3A03-987A-B8D86061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71D7-8799-4453-A9E4-6778F6A0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85008D-8C0F-6000-9395-F156E4ECF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1. Problem Context</a:t>
                </a:r>
              </a:p>
              <a:p>
                <a:r>
                  <a:rPr lang="en-IN" sz="2400" dirty="0"/>
                  <a:t>In </a:t>
                </a:r>
                <a:r>
                  <a:rPr lang="en-IN" sz="2400" b="1" dirty="0"/>
                  <a:t>classification</a:t>
                </a:r>
                <a:r>
                  <a:rPr lang="en-IN" sz="2400" dirty="0"/>
                  <a:t>, the target variable is </a:t>
                </a:r>
                <a:r>
                  <a:rPr lang="en-IN" sz="2400" b="1" dirty="0"/>
                  <a:t>categorical</a:t>
                </a:r>
                <a:r>
                  <a:rPr lang="en-IN" sz="2400" dirty="0"/>
                  <a:t>, typically: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Examples:</a:t>
                </a:r>
              </a:p>
              <a:p>
                <a:pPr lvl="1"/>
                <a:r>
                  <a:rPr lang="en-IN" dirty="0"/>
                  <a:t>Spam (1) / Not Spam (0)</a:t>
                </a:r>
              </a:p>
              <a:p>
                <a:pPr lvl="1"/>
                <a:r>
                  <a:rPr lang="en-IN" dirty="0"/>
                  <a:t>Disease (1) / Healthy (0)</a:t>
                </a:r>
              </a:p>
              <a:p>
                <a:endParaRPr lang="en-IN" sz="1000" dirty="0"/>
              </a:p>
              <a:p>
                <a:r>
                  <a:rPr lang="en-IN" sz="2400" dirty="0"/>
                  <a:t>However, </a:t>
                </a:r>
                <a:r>
                  <a:rPr lang="en-IN" sz="2400" b="1" dirty="0"/>
                  <a:t>linear regression</a:t>
                </a:r>
                <a:r>
                  <a:rPr lang="en-IN" sz="2400" dirty="0"/>
                  <a:t> models outputs as:</a:t>
                </a:r>
              </a:p>
              <a:p>
                <a:pPr marL="0" indent="0">
                  <a:buNone/>
                </a:pPr>
                <a:endParaRPr lang="en-IN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endParaRPr lang="ar-AE" sz="1000" dirty="0"/>
              </a:p>
              <a:p>
                <a:r>
                  <a:rPr lang="en-IN" sz="2400" dirty="0"/>
                  <a:t>which is inherently designed for </a:t>
                </a:r>
                <a:r>
                  <a:rPr lang="en-IN" sz="2400" b="1" dirty="0"/>
                  <a:t>continuous-valued prediction</a:t>
                </a:r>
                <a:r>
                  <a:rPr lang="en-IN" sz="2400" dirty="0"/>
                  <a:t>, not class labels.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85008D-8C0F-6000-9395-F156E4ECF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4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01D9-C42C-B099-B349-B65756FB2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7D66-C8B1-C65D-007D-114D3E04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0AE418-2D6A-382F-28BA-F1A08EC6CD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Unbounded Output</a:t>
                </a:r>
              </a:p>
              <a:p>
                <a:r>
                  <a:rPr lang="en-IN" sz="2400" dirty="0"/>
                  <a:t>Linear regression predicts: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+∞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2400" b="1" dirty="0"/>
              </a:p>
              <a:p>
                <a:r>
                  <a:rPr lang="en-IN" sz="2400" b="1" dirty="0"/>
                  <a:t>Why this is a problem:</a:t>
                </a:r>
              </a:p>
              <a:p>
                <a:r>
                  <a:rPr lang="en-IN" sz="2400" dirty="0"/>
                  <a:t>Classification needs outputs in </a:t>
                </a:r>
                <a:r>
                  <a:rPr lang="en-IN" sz="2400" b="1" dirty="0"/>
                  <a:t>[0,1]</a:t>
                </a:r>
                <a:r>
                  <a:rPr lang="en-IN" sz="2400" dirty="0"/>
                  <a:t> to represent probabilities</a:t>
                </a:r>
              </a:p>
              <a:p>
                <a:r>
                  <a:rPr lang="en-IN" sz="2400" dirty="0"/>
                  <a:t>Linear regression can predict: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=−0.4</m:t>
                    </m:r>
                  </m:oMath>
                </a14:m>
                <a:endParaRPr lang="ar-AE" dirty="0"/>
              </a:p>
              <a:p>
                <a:endParaRPr lang="en-IN" sz="2400" dirty="0"/>
              </a:p>
              <a:p>
                <a:r>
                  <a:rPr lang="en-IN" sz="2400" dirty="0"/>
                  <a:t> Such values </a:t>
                </a:r>
                <a:r>
                  <a:rPr lang="en-IN" sz="2400" b="1" dirty="0"/>
                  <a:t>cannot be interpreted as probabilities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0AE418-2D6A-382F-28BA-F1A08EC6CD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190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B93B3-05CD-00AF-90E8-08211F11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CBA2-B4A2-3D99-B33D-27A715E7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3D88B-AF10-560C-D1A5-CFA9FE0B9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No Probabilistic Interpretation</a:t>
                </a:r>
              </a:p>
              <a:p>
                <a:r>
                  <a:rPr lang="en-IN" sz="2400" dirty="0"/>
                  <a:t>In classification, we often ask:  </a:t>
                </a:r>
                <a:r>
                  <a:rPr lang="en-IN" sz="2400" i="1" dirty="0"/>
                  <a:t>How confident is the model about its prediction?</a:t>
                </a:r>
                <a:endParaRPr lang="en-IN" sz="2400" dirty="0"/>
              </a:p>
              <a:p>
                <a:r>
                  <a:rPr lang="en-IN" sz="2400" dirty="0"/>
                  <a:t>Linear regression:</a:t>
                </a:r>
              </a:p>
              <a:p>
                <a:r>
                  <a:rPr lang="en-IN" sz="2400" dirty="0"/>
                  <a:t>Outputs a real number</a:t>
                </a:r>
              </a:p>
              <a:p>
                <a:r>
                  <a:rPr lang="en-IN" sz="2400" dirty="0"/>
                  <a:t>No statistical meaning for confidence</a:t>
                </a:r>
              </a:p>
              <a:p>
                <a:r>
                  <a:rPr lang="en-IN" sz="2400" dirty="0"/>
                  <a:t>Cannot answer: </a:t>
                </a:r>
                <a:r>
                  <a:rPr lang="en-IN" sz="2400" i="1" dirty="0"/>
                  <a:t>“There is an 82% chance this email is spam”</a:t>
                </a:r>
                <a:endParaRPr lang="en-IN" sz="2400" dirty="0"/>
              </a:p>
              <a:p>
                <a:r>
                  <a:rPr lang="en-IN" sz="2400" dirty="0"/>
                  <a:t>Logistic regression: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Gives </a:t>
                </a:r>
                <a:r>
                  <a:rPr lang="en-IN" sz="2400" b="1" dirty="0"/>
                  <a:t>calibrated probabilities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3D88B-AF10-560C-D1A5-CFA9FE0B9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24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304F-C14B-C287-2A1C-9EB7CA50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27C8-970A-E3E0-F88E-0A581CA8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4D7C-2EB5-6733-93B9-2F639F176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Thresholding is Artificial and Unstable</a:t>
                </a:r>
              </a:p>
              <a:p>
                <a:r>
                  <a:rPr lang="en-IN" sz="2400" dirty="0"/>
                  <a:t>A common workaround is: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 </m:t>
                                </m:r>
                                <m:sSup>
                                  <m:sSup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≥0.5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r>
                  <a:rPr lang="en-IN" sz="2400" b="1" dirty="0"/>
                  <a:t>Problems:</a:t>
                </a:r>
              </a:p>
              <a:p>
                <a:r>
                  <a:rPr lang="en-IN" sz="2400" dirty="0"/>
                  <a:t>Threshold choice is </a:t>
                </a:r>
                <a:r>
                  <a:rPr lang="en-IN" sz="2400" b="1" dirty="0"/>
                  <a:t>arbitrary</a:t>
                </a:r>
                <a:endParaRPr lang="en-IN" sz="2400" dirty="0"/>
              </a:p>
              <a:p>
                <a:r>
                  <a:rPr lang="en-IN" sz="2400" dirty="0"/>
                  <a:t>Small noise in input → large change in output</a:t>
                </a:r>
              </a:p>
              <a:p>
                <a:r>
                  <a:rPr lang="en-IN" sz="2400" dirty="0"/>
                  <a:t>Predictions near threshold are </a:t>
                </a:r>
                <a:r>
                  <a:rPr lang="en-IN" sz="2400" b="1" dirty="0"/>
                  <a:t>unstable</a:t>
                </a:r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Linear regression does not </a:t>
                </a:r>
                <a:r>
                  <a:rPr lang="en-IN" sz="2400" i="1" dirty="0"/>
                  <a:t>learn</a:t>
                </a:r>
                <a:r>
                  <a:rPr lang="en-IN" sz="2400" dirty="0"/>
                  <a:t> a classification boundary—it is </a:t>
                </a:r>
                <a:r>
                  <a:rPr lang="en-IN" sz="2400" b="1" dirty="0"/>
                  <a:t>forced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C4D7C-2EB5-6733-93B9-2F639F176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16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4758-1084-06BF-F824-D18112D4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8EE3-2BD3-DE7A-C0E1-F46F4FDC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CC724-F759-2C68-408A-7074FB421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5. Mean Squared Error is Inappropriate for Classification</a:t>
            </a:r>
          </a:p>
          <a:p>
            <a:r>
              <a:rPr lang="en-IN" sz="2400" dirty="0"/>
              <a:t>Linear regression minimizes </a:t>
            </a:r>
            <a:r>
              <a:rPr lang="en-IN" sz="2400" b="1" dirty="0"/>
              <a:t>MSE</a:t>
            </a:r>
            <a:r>
              <a:rPr lang="en-IN" sz="2400" dirty="0"/>
              <a:t>:</a:t>
            </a:r>
          </a:p>
          <a:p>
            <a:r>
              <a:rPr lang="en-IN" sz="2400" b="1" dirty="0"/>
              <a:t>Issues with MSE for classification:</a:t>
            </a:r>
          </a:p>
          <a:p>
            <a:r>
              <a:rPr lang="en-IN" sz="2400" dirty="0"/>
              <a:t>Penalizes distance, not </a:t>
            </a:r>
            <a:r>
              <a:rPr lang="en-IN" sz="2400" b="1" dirty="0"/>
              <a:t>misclassification</a:t>
            </a:r>
            <a:endParaRPr lang="en-IN" sz="2400" dirty="0"/>
          </a:p>
          <a:p>
            <a:r>
              <a:rPr lang="en-IN" sz="2400" dirty="0"/>
              <a:t>Treats errors symmetrically (wrong confidence not punished)</a:t>
            </a:r>
          </a:p>
          <a:p>
            <a:r>
              <a:rPr lang="en-IN" sz="2400" dirty="0"/>
              <a:t>Leads to </a:t>
            </a:r>
            <a:r>
              <a:rPr lang="en-IN" sz="2400" b="1" dirty="0"/>
              <a:t>non-optimal decision boundaries</a:t>
            </a:r>
            <a:endParaRPr lang="en-IN" sz="2400" dirty="0"/>
          </a:p>
          <a:p>
            <a:r>
              <a:rPr lang="en-IN" sz="2400" dirty="0"/>
              <a:t>Classification requires a </a:t>
            </a:r>
            <a:r>
              <a:rPr lang="en-IN" sz="2400" b="1" dirty="0"/>
              <a:t>likelihood-based loss</a:t>
            </a:r>
            <a:r>
              <a:rPr lang="en-IN" sz="2400" dirty="0"/>
              <a:t>, not squared error.</a:t>
            </a:r>
          </a:p>
        </p:txBody>
      </p:sp>
    </p:spTree>
    <p:extLst>
      <p:ext uri="{BB962C8B-B14F-4D97-AF65-F5344CB8AC3E}">
        <p14:creationId xmlns:p14="http://schemas.microsoft.com/office/powerpoint/2010/main" val="78889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A60D-4BFD-52D8-A2C8-9126F19D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8F4F-76C9-C44B-E6A0-B3EDEC5D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861AD-C88C-812E-8951-EC9192912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6. Sensitivity to Outliers</a:t>
            </a:r>
          </a:p>
          <a:p>
            <a:r>
              <a:rPr lang="en-US" sz="2400" dirty="0"/>
              <a:t>Linear regression fits by minimizing squared error</a:t>
            </a:r>
          </a:p>
          <a:p>
            <a:r>
              <a:rPr lang="en-US" sz="2400" dirty="0"/>
              <a:t>A few mislabeled or extreme points can:</a:t>
            </a:r>
          </a:p>
          <a:p>
            <a:pPr lvl="1"/>
            <a:r>
              <a:rPr lang="en-US" dirty="0"/>
              <a:t>Pull the regression line</a:t>
            </a:r>
          </a:p>
          <a:p>
            <a:pPr lvl="1"/>
            <a:r>
              <a:rPr lang="en-US" dirty="0"/>
              <a:t>Shift the decision threshold drastically</a:t>
            </a:r>
          </a:p>
          <a:p>
            <a:r>
              <a:rPr lang="en-US" sz="2400" dirty="0"/>
              <a:t>This is </a:t>
            </a:r>
            <a:r>
              <a:rPr lang="en-US" sz="2400" b="1" dirty="0"/>
              <a:t>dangerous</a:t>
            </a:r>
            <a:r>
              <a:rPr lang="en-US" sz="2400" dirty="0"/>
              <a:t> in classification tasks like:</a:t>
            </a:r>
          </a:p>
          <a:p>
            <a:r>
              <a:rPr lang="en-US" sz="2400" dirty="0"/>
              <a:t>Medical diagnosis</a:t>
            </a:r>
          </a:p>
          <a:p>
            <a:r>
              <a:rPr lang="en-US" sz="2400" dirty="0"/>
              <a:t>Fraud detection</a:t>
            </a:r>
          </a:p>
          <a:p>
            <a:r>
              <a:rPr lang="en-US" sz="2400" dirty="0"/>
              <a:t>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97613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4C83-8403-A6C1-5C42-ED405890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F254-F326-A2C6-5897-3108A0C93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E7E3-99D8-3570-071E-CD8F0E45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7. Poor Decision Boundary Geometry</a:t>
            </a:r>
          </a:p>
          <a:p>
            <a:r>
              <a:rPr lang="en-US" sz="2400" dirty="0"/>
              <a:t>Even if labels are binary:</a:t>
            </a:r>
          </a:p>
          <a:p>
            <a:r>
              <a:rPr lang="en-US" sz="2400" dirty="0"/>
              <a:t>Linear regression does </a:t>
            </a:r>
            <a:r>
              <a:rPr lang="en-US" sz="2400" b="1" dirty="0"/>
              <a:t>not optimize separation</a:t>
            </a:r>
            <a:endParaRPr lang="en-US" sz="2400" dirty="0"/>
          </a:p>
          <a:p>
            <a:r>
              <a:rPr lang="en-US" sz="2400" dirty="0"/>
              <a:t>The fitted line minimizes error, </a:t>
            </a:r>
            <a:r>
              <a:rPr lang="en-US" sz="2400" b="1" dirty="0"/>
              <a:t>not class overlap</a:t>
            </a:r>
            <a:endParaRPr lang="en-US" sz="2400" dirty="0"/>
          </a:p>
          <a:p>
            <a:r>
              <a:rPr lang="en-US" sz="2400" dirty="0"/>
              <a:t>Logistic regression:</a:t>
            </a:r>
          </a:p>
          <a:p>
            <a:r>
              <a:rPr lang="en-US" sz="2400" dirty="0"/>
              <a:t>Explicitly models </a:t>
            </a:r>
            <a:r>
              <a:rPr lang="en-US" sz="2400" b="1" dirty="0"/>
              <a:t>class probabilities</a:t>
            </a:r>
            <a:endParaRPr lang="en-US" sz="2400" dirty="0"/>
          </a:p>
          <a:p>
            <a:r>
              <a:rPr lang="en-US" sz="2400" dirty="0"/>
              <a:t>Optimizes a boundary that maximizes likelihood of correct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23120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AC8D-D817-72BB-A5E4-AF125659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14B0-9226-4796-C86A-DC9DAFA4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Linear Regression Limitation for 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A76D-6744-9EC4-26A5-F64FA87B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8.Summary of Limitations</a:t>
            </a:r>
            <a:endParaRPr lang="en-US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0EF1931-A808-32C2-44BC-67D7B827D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2739978"/>
                  </p:ext>
                </p:extLst>
              </p:nvPr>
            </p:nvGraphicFramePr>
            <p:xfrm>
              <a:off x="718457" y="2038088"/>
              <a:ext cx="10515600" cy="320040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67585670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7792035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2736183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Aspect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Linear Regression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Logistic Regression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169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Output range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sepChr m:val=","/>
                                    <m:ctrlPr>
                                      <a:rPr lang="ar-A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e>
                                  <m:e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  <m:r>
                                      <a:rPr lang="en-IN" sz="2400" b="0" i="0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+∞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([0,1])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98321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Probability 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017607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Loss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MSE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Cross-Entropy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17255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Decision boundary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Forced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Learned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08241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Stability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Robust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9131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Classification suitability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175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0EF1931-A808-32C2-44BC-67D7B827D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2739978"/>
                  </p:ext>
                </p:extLst>
              </p:nvPr>
            </p:nvGraphicFramePr>
            <p:xfrm>
              <a:off x="718457" y="2038088"/>
              <a:ext cx="10515600" cy="3200400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67585670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77920357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27361835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Aspect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Linear Regression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Logistic Regression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49169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Output range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10667" r="-100174" b="-5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([0,1])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98321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Probability 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017607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Loss function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MSE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Cross-Entropy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17255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Decision boundary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Forced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Learned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08241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Stability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Poor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Robust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9131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Classification suitability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No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Yes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175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0498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7B77-4FD8-50E9-BB4F-74487A5D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C015-D72D-4A11-712F-CDE58775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9F867-973B-89A4-A52B-33D9A68597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1. Why Do We Need the Logistic (Sigmoid) Function</a:t>
                </a:r>
                <a:r>
                  <a:rPr lang="en-IN" sz="2400" b="1" dirty="0"/>
                  <a:t>?</a:t>
                </a:r>
              </a:p>
              <a:p>
                <a:r>
                  <a:rPr lang="en-IN" sz="2400" dirty="0"/>
                  <a:t>From the previous discussion, linear regression gives:</a:t>
                </a:r>
              </a:p>
              <a:p>
                <a:pPr marL="0" indent="0">
                  <a:buNone/>
                </a:pPr>
                <a:endParaRPr lang="en-IN" sz="12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∞+∞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500" dirty="0"/>
              </a:p>
              <a:p>
                <a:r>
                  <a:rPr lang="en-IN" sz="2400" dirty="0"/>
                  <a:t>But in </a:t>
                </a:r>
                <a:r>
                  <a:rPr lang="en-IN" sz="2400" b="1" dirty="0"/>
                  <a:t>classification</a:t>
                </a:r>
                <a:r>
                  <a:rPr lang="en-IN" sz="2400" dirty="0"/>
                  <a:t>, we want: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Requirement</a:t>
                </a:r>
                <a:r>
                  <a:rPr lang="en-IN" sz="2400" dirty="0"/>
                  <a:t>: A function that</a:t>
                </a:r>
              </a:p>
              <a:p>
                <a:pPr lvl="1"/>
                <a:r>
                  <a:rPr lang="en-IN" dirty="0"/>
                  <a:t>accepts any real number</a:t>
                </a:r>
              </a:p>
              <a:p>
                <a:pPr lvl="1"/>
                <a:r>
                  <a:rPr lang="en-IN" dirty="0"/>
                  <a:t>outputs a value strictly between 0 and 1</a:t>
                </a:r>
              </a:p>
              <a:p>
                <a:pPr lvl="1"/>
                <a:r>
                  <a:rPr lang="en-IN" dirty="0"/>
                  <a:t>is smooth and differentiable</a:t>
                </a:r>
              </a:p>
              <a:p>
                <a:r>
                  <a:rPr lang="en-IN" sz="2400" dirty="0"/>
                  <a:t>This leads to the </a:t>
                </a:r>
                <a:r>
                  <a:rPr lang="en-IN" sz="2400" b="1" dirty="0"/>
                  <a:t>logistic (sigmoid) function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9F867-973B-89A4-A52B-33D9A6859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 b="-12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712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EEA71-9604-7C3D-A2D5-523922F8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677B-EF3F-078C-8B1D-1CFE5A3C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AB4BE-B534-7F13-12BC-F8CBAAD1D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Definition of the Logistic (Sigmoid) Function)</a:t>
                </a:r>
              </a:p>
              <a:p>
                <a:pPr marL="0" indent="0">
                  <a:buNone/>
                </a:pPr>
                <a:endParaRPr lang="en-IN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AB4BE-B534-7F13-12BC-F8CBAAD1D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555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3057-9E50-CB3F-443F-AFA6B85D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04EE-EE93-CC82-66E5-114ADA89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51058-55EB-F3A2-C3D8-1C9951F45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Key Mathematical Properties of the Sigmoid Function</a:t>
                </a:r>
              </a:p>
              <a:p>
                <a:r>
                  <a:rPr lang="en-IN" sz="2400" b="1" dirty="0"/>
                  <a:t>Range</a:t>
                </a: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Monotonic: </a:t>
                </a:r>
                <a:r>
                  <a:rPr lang="en-IN" sz="2400" dirty="0"/>
                  <a:t>Increasing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sz="2400" dirty="0"/>
                  <a:t>→ increasing probability</a:t>
                </a:r>
              </a:p>
              <a:p>
                <a:r>
                  <a:rPr lang="en-IN" sz="2400" b="1" dirty="0"/>
                  <a:t>Smooth &amp; Differentiable</a:t>
                </a: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Asymptotic Behavior</a:t>
                </a: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→+∞</m:t>
                          </m:r>
                        </m:lim>
                      </m:limLow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=1, </m:t>
                      </m:r>
                      <m:limLow>
                        <m:limLow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→−∞</m:t>
                          </m:r>
                        </m:lim>
                      </m:limLow>
                      <m:r>
                        <a:rPr lang="ar-AE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These properties make it ideal for </a:t>
                </a:r>
                <a:r>
                  <a:rPr lang="en-IN" sz="2400" b="1" dirty="0"/>
                  <a:t>gradient-based learning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51058-55EB-F3A2-C3D8-1C9951F45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836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CA47-AA97-8F3F-FD2D-98252930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4631-5ED1-B388-919B-818185E0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974AA-0296-E943-C1D6-269A715903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Logistic Regression Model with Sigmoid</a:t>
                </a:r>
              </a:p>
              <a:p>
                <a:r>
                  <a:rPr lang="en-IN" sz="2400" dirty="0"/>
                  <a:t>Logistic regression combines:</a:t>
                </a:r>
              </a:p>
              <a:p>
                <a:r>
                  <a:rPr lang="en-IN" sz="2400" b="1" dirty="0"/>
                  <a:t>Linear model</a:t>
                </a:r>
                <a:r>
                  <a:rPr lang="en-IN" sz="2400" dirty="0"/>
                  <a:t> + </a:t>
                </a:r>
                <a:r>
                  <a:rPr lang="en-IN" sz="2400" b="1" dirty="0"/>
                  <a:t>nonlinear sigmoid</a:t>
                </a:r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=1∣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value is interpreted as a </a:t>
                </a:r>
                <a:r>
                  <a:rPr lang="en-IN" sz="2400" b="1" dirty="0"/>
                  <a:t>probability</a:t>
                </a:r>
                <a:r>
                  <a:rPr lang="en-IN" sz="2400" dirty="0"/>
                  <a:t>, not just a score.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974AA-0296-E943-C1D6-269A715903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476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D3F4-1893-B1B2-BDAC-803E0619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C65B-F572-6C88-F80E-F89799B9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009A4-669E-DA81-C953-3B025FABE2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Probability Interpretation</a:t>
                </a:r>
              </a:p>
              <a:p>
                <a:r>
                  <a:rPr lang="en-IN" sz="2400" dirty="0"/>
                  <a:t>The output of logistic regression is: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This means: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ar-AE" dirty="0"/>
                  <a:t>→ </a:t>
                </a:r>
                <a:r>
                  <a:rPr lang="ar-AE" b="1" dirty="0"/>
                  <a:t>80% </a:t>
                </a:r>
                <a:r>
                  <a:rPr lang="en-IN" b="1" dirty="0"/>
                  <a:t>confidence</a:t>
                </a:r>
                <a:r>
                  <a:rPr lang="en-IN" dirty="0"/>
                  <a:t>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ar-AE" dirty="0"/>
                  <a:t>→ </a:t>
                </a:r>
                <a:r>
                  <a:rPr lang="ar-AE" b="1" dirty="0"/>
                  <a:t>30% </a:t>
                </a:r>
                <a:r>
                  <a:rPr lang="en-IN" b="1" dirty="0"/>
                  <a:t>confidence</a:t>
                </a:r>
                <a:r>
                  <a:rPr lang="en-IN" dirty="0"/>
                  <a:t>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r>
                  <a:rPr lang="en-IN" sz="2400" dirty="0"/>
                  <a:t>Correspondingly: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=0∣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=1−</m:t>
                      </m:r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The model is </a:t>
                </a:r>
                <a:r>
                  <a:rPr lang="en-IN" sz="2400" b="1" dirty="0"/>
                  <a:t>probabilistic</a:t>
                </a:r>
                <a:r>
                  <a:rPr lang="en-IN" sz="2400" dirty="0"/>
                  <a:t>, unlike linear regression.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009A4-669E-DA81-C953-3B025FABE2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910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340D-DECA-9BC1-F864-073938CD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D1FB-45F0-A29E-2D01-9D80C7C7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6D614-D4B9-F20F-CF7B-627EC2B4B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6. Decision Threshold and Classification</a:t>
                </a:r>
              </a:p>
              <a:p>
                <a:r>
                  <a:rPr lang="en-IN" sz="2400" dirty="0"/>
                  <a:t>To convert probability into a class label: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Default threshold: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Threshold can be adjusted for:</a:t>
                </a:r>
              </a:p>
              <a:p>
                <a:pPr lvl="1"/>
                <a:r>
                  <a:rPr lang="en-IN" dirty="0"/>
                  <a:t>medical diagnosis (high recall)</a:t>
                </a:r>
              </a:p>
              <a:p>
                <a:pPr lvl="1"/>
                <a:r>
                  <a:rPr lang="en-IN" dirty="0"/>
                  <a:t>fraud detection (high precision)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Probability output allows </a:t>
                </a:r>
                <a:r>
                  <a:rPr lang="en-IN" sz="2400" b="1" dirty="0"/>
                  <a:t>risk-aware decisions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6D614-D4B9-F20F-CF7B-627EC2B4B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855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1CB9-6D9A-17E9-31EB-03F13D4A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72D0-CC54-9EB9-47FC-0A6693E7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4D9A-A02A-3B47-1028-043473943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8.Intuition Through Values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C96A49-4B31-5D4A-D982-05C33D248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957841"/>
              </p:ext>
            </p:extLst>
          </p:nvPr>
        </p:nvGraphicFramePr>
        <p:xfrm>
          <a:off x="838200" y="2904014"/>
          <a:ext cx="10515600" cy="2743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0253">
                  <a:extLst>
                    <a:ext uri="{9D8B030D-6E8A-4147-A177-3AD203B41FA5}">
                      <a16:colId xmlns:a16="http://schemas.microsoft.com/office/drawing/2014/main" val="1385680593"/>
                    </a:ext>
                  </a:extLst>
                </a:gridCol>
                <a:gridCol w="4940147">
                  <a:extLst>
                    <a:ext uri="{9D8B030D-6E8A-4147-A177-3AD203B41FA5}">
                      <a16:colId xmlns:a16="http://schemas.microsoft.com/office/drawing/2014/main" val="138509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0946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(z)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(\sigma(z))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68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−4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Almost certainly class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34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−1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Likely class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52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Uncertain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2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0.731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Likely class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Almost certainly class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47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592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851C3-527D-0742-0736-2965DA32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295D-B70C-BF00-C7D0-63ADF6D8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Logistic Function &amp; Probability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844F0-D0BE-DC23-E950-95D4131C1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9. Why Sigmoid Fits Probability Theory</a:t>
                </a:r>
              </a:p>
              <a:p>
                <a:r>
                  <a:rPr lang="en-IN" sz="2400" dirty="0"/>
                  <a:t>Derived from </a:t>
                </a:r>
                <a:r>
                  <a:rPr lang="en-IN" sz="2400" b="1" dirty="0"/>
                  <a:t>log-odds (logit)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=1∣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=1∣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Equivalent to </a:t>
                </a:r>
                <a:r>
                  <a:rPr lang="en-IN" sz="2400" b="1" dirty="0"/>
                  <a:t>Bernoulli likelihood + MLE</a:t>
                </a:r>
                <a:endParaRPr lang="en-IN" sz="2400" dirty="0"/>
              </a:p>
              <a:p>
                <a:r>
                  <a:rPr lang="en-IN" sz="2400" dirty="0"/>
                  <a:t>Leads naturally to </a:t>
                </a:r>
                <a:r>
                  <a:rPr lang="en-IN" sz="2400" b="1" dirty="0"/>
                  <a:t>cross-entropy loss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E844F0-D0BE-DC23-E950-95D4131C1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347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E4A9-1891-6EC9-FC1D-325F6487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9213-5D6F-0891-7DC8-F6C89BD9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2C539-B966-8680-5FC4-7FEA5223D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1. Problem Setting</a:t>
                </a:r>
              </a:p>
              <a:p>
                <a:r>
                  <a:rPr lang="en-IN" sz="2400" dirty="0"/>
                  <a:t>Given a dataset: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Feature vector: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,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Label: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Goal: Model the conditional probability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=1∣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2C539-B966-8680-5FC4-7FEA5223D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94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5257-0756-FB7C-3AD7-AEDA0DCB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EC6C-2554-8770-09DD-A9FE0E84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1549C-40AD-3989-F307-951EAEC68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Linear Predictor (Score Function)</a:t>
                </a:r>
              </a:p>
              <a:p>
                <a:r>
                  <a:rPr lang="en-IN" sz="2400" dirty="0"/>
                  <a:t>Logistic regression starts with a </a:t>
                </a:r>
                <a:r>
                  <a:rPr lang="en-IN" sz="2400" b="1" dirty="0"/>
                  <a:t>linear combination of features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Where:</a:t>
                </a:r>
              </a:p>
              <a:p>
                <a:pPr marL="0" indent="0">
                  <a:buNone/>
                </a:pPr>
                <a:r>
                  <a:rPr lang="en-IN" sz="2400" dirty="0"/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,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sz="2400" dirty="0"/>
                  <a:t>→ </a:t>
                </a:r>
                <a:r>
                  <a:rPr lang="en-IN" sz="2400" dirty="0"/>
                  <a:t> weight vector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/>
                  <a:t>→ bias (intercept)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This score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sz="2400" dirty="0"/>
                  <a:t>is </a:t>
                </a:r>
                <a:r>
                  <a:rPr lang="en-IN" sz="2400" b="1" dirty="0"/>
                  <a:t>not yet a probability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41549C-40AD-3989-F307-951EAEC68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604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7B66-730B-67AC-BA29-A046592C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2265-5281-EDD8-4E4A-17910CF2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FDE35-B1B4-4766-3F3E-DCFD1E7E2B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Logistic (Sigmoid) Mapping</a:t>
                </a:r>
              </a:p>
              <a:p>
                <a:r>
                  <a:rPr lang="en-IN" sz="2400" dirty="0"/>
                  <a:t>To convert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sz="2400" dirty="0"/>
                  <a:t>  into a probability: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Thus,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=1∣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And,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=0∣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FDE35-B1B4-4766-3F3E-DCFD1E7E2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820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F262-5F6E-4E62-C86B-38B4F4A0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B6AA-05F3-0CD6-12E2-5EE0D727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F098D-1640-5A1B-1D42-DC7E315D3F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Compact Probabilistic Model</a:t>
                </a:r>
              </a:p>
              <a:p>
                <a:r>
                  <a:rPr lang="en-IN" sz="2400" dirty="0"/>
                  <a:t>Using a single expression for both classes: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ar-AE" sz="2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2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form is crucial for:</a:t>
                </a:r>
              </a:p>
              <a:p>
                <a:pPr lvl="1"/>
                <a:r>
                  <a:rPr lang="en-IN" dirty="0"/>
                  <a:t>Likelihood</a:t>
                </a:r>
              </a:p>
              <a:p>
                <a:pPr lvl="1"/>
                <a:r>
                  <a:rPr lang="en-IN" dirty="0"/>
                  <a:t>MLE derivation</a:t>
                </a:r>
              </a:p>
              <a:p>
                <a:pPr lvl="1"/>
                <a:r>
                  <a:rPr lang="en-IN" dirty="0"/>
                  <a:t>Loss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F098D-1640-5A1B-1D42-DC7E315D3F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429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A132-F4B8-FC98-5956-0D72DEB7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F096-88E3-461B-7733-AB005AA0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4D8D2-D5BC-7474-F382-641185EB3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Log-Odds (Logit) Interpretation</a:t>
                </a:r>
              </a:p>
              <a:p>
                <a:r>
                  <a:rPr lang="en-IN" sz="2400" dirty="0"/>
                  <a:t>Define odds:</a:t>
                </a:r>
              </a:p>
              <a:p>
                <a:pPr marL="0" indent="0">
                  <a:buNone/>
                </a:pPr>
                <a:endParaRPr lang="en-IN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Odds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=1∣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=0∣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Taking log: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unc>
                            <m:func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ar-AE" sz="2400">
                                          <a:latin typeface="Cambria Math" panose="02040503050406030204" pitchFamily="18" charset="0"/>
                                        </a:rPr>
                                        <m:t>=1∣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ar-AE" sz="2400">
                                          <a:latin typeface="Cambria Math" panose="02040503050406030204" pitchFamily="18" charset="0"/>
                                        </a:rPr>
                                        <m:t>=1∣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Logistic regression is </a:t>
                </a:r>
                <a:r>
                  <a:rPr lang="en-IN" sz="2400" b="1" dirty="0"/>
                  <a:t>linear in log-odds</a:t>
                </a:r>
                <a:r>
                  <a:rPr lang="en-IN" sz="2400" dirty="0"/>
                  <a:t>, not in probability.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4D8D2-D5BC-7474-F382-641185EB3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747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C61F-E904-E402-67F0-C751382A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8058-B7C4-F514-3FEE-C67B6377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77A175-8552-6A8D-6B6C-95ADEA0245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6. Decision Rule (Classifier</a:t>
                </a:r>
                <a:r>
                  <a:rPr lang="en-IN" sz="2400" b="1" dirty="0"/>
                  <a:t>)</a:t>
                </a:r>
              </a:p>
              <a:p>
                <a:r>
                  <a:rPr lang="en-IN" sz="2400" dirty="0"/>
                  <a:t>Convert probability to class label: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ar-AE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2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AE" sz="2400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Default threshold: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Can be tuned based on application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77A175-8552-6A8D-6B6C-95ADEA024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85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7A09-00DE-9CFB-E613-58B2CE9D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9E94-A954-05AA-60BB-F0040165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988A32-1B81-46B8-5377-04CB828309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/>
                  <a:t>7. Decision Boundary (Geometry)</a:t>
                </a:r>
              </a:p>
              <a:p>
                <a:r>
                  <a:rPr lang="en-IN" sz="2400" dirty="0"/>
                  <a:t>Decision boundary occurs when: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=0.5⇒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In 2D → straight line</a:t>
                </a:r>
              </a:p>
              <a:p>
                <a:r>
                  <a:rPr lang="en-IN" sz="2400" dirty="0"/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sz="2400" dirty="0"/>
                  <a:t>-dimensions → hyperplane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Logistic regression is a </a:t>
                </a:r>
                <a:r>
                  <a:rPr lang="en-IN" sz="2400" b="1" dirty="0"/>
                  <a:t>linear classifier</a:t>
                </a:r>
                <a:r>
                  <a:rPr lang="en-IN" sz="2400" dirty="0"/>
                  <a:t> in feature space.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988A32-1B81-46B8-5377-04CB828309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827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272F-BC5B-B4DD-3D65-9167A4FC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DC39-9534-1682-BA18-FB9BBDCC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CBF99-53EC-E922-4A96-A5EB29E18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/>
                  <a:t>8. Vectorized Form (Dataset Level)</a:t>
                </a:r>
              </a:p>
              <a:p>
                <a:r>
                  <a:rPr lang="en-IN" sz="2400" dirty="0"/>
                  <a:t>For dataset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ar-AE" sz="2400" dirty="0"/>
                  <a:t>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𝑋𝑤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predicted probabilities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IN" dirty="0"/>
                  <a:t>applied element-wise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CBF99-53EC-E922-4A96-A5EB29E18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449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08BA-1325-E71F-83DB-AEEE09FF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7AFE-356D-0153-D341-5230F31E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Mathematical Model for Logistic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A0ACD-560C-9A23-E8A9-E0DE2F54CD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9. What Is Learned?</a:t>
                </a:r>
              </a:p>
              <a:p>
                <a:r>
                  <a:rPr lang="en-IN" sz="2400" dirty="0"/>
                  <a:t>During training, logistic regression learns: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r>
                  <a:rPr lang="en-IN" sz="2400" dirty="0"/>
                  <a:t>Weight vector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Bias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sz="2400" dirty="0"/>
              </a:p>
              <a:p>
                <a:r>
                  <a:rPr lang="en-IN" sz="2400" dirty="0"/>
                  <a:t>By minimizing:</a:t>
                </a:r>
              </a:p>
              <a:p>
                <a:pPr marL="0" indent="0">
                  <a:buNone/>
                </a:pPr>
                <a:endParaRPr lang="en-IN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Negative</m:t>
                      </m:r>
                      <m:r>
                        <m:rPr>
                          <m:nor/>
                        </m:rPr>
                        <a:rPr lang="en-IN" sz="2400" b="0" i="1"/>
                        <m:t> </m:t>
                      </m:r>
                      <m:r>
                        <m:rPr>
                          <m:nor/>
                        </m:rPr>
                        <a:rPr lang="en-IN" sz="2400" b="0" i="1"/>
                        <m:t>Log</m:t>
                      </m:r>
                      <m:r>
                        <m:rPr>
                          <m:nor/>
                        </m:rPr>
                        <a:rPr lang="en-IN" sz="2400" b="0" i="1"/>
                        <m:t>−</m:t>
                      </m:r>
                      <m:r>
                        <m:rPr>
                          <m:nor/>
                        </m:rPr>
                        <a:rPr lang="en-IN" sz="2400" b="0" i="1"/>
                        <m:t>Likelihood</m:t>
                      </m:r>
                      <m:r>
                        <m:rPr>
                          <m:nor/>
                        </m:rPr>
                        <a:rPr lang="en-IN" sz="2400" b="0" i="1"/>
                        <m:t> (</m:t>
                      </m:r>
                      <m:r>
                        <m:rPr>
                          <m:nor/>
                        </m:rPr>
                        <a:rPr lang="en-IN" sz="2400" b="0" i="1"/>
                        <m:t>Cross</m:t>
                      </m:r>
                      <m:r>
                        <m:rPr>
                          <m:nor/>
                        </m:rPr>
                        <a:rPr lang="en-IN" sz="2400" b="0" i="1"/>
                        <m:t>−</m:t>
                      </m:r>
                      <m:r>
                        <m:rPr>
                          <m:nor/>
                        </m:rPr>
                        <a:rPr lang="en-IN" sz="2400" b="0" i="1"/>
                        <m:t>Entropy</m:t>
                      </m:r>
                      <m:r>
                        <m:rPr>
                          <m:nor/>
                        </m:rPr>
                        <a:rPr lang="en-IN" sz="2400" b="0" i="1"/>
                        <m:t>)</m:t>
                      </m:r>
                    </m:oMath>
                  </m:oMathPara>
                </a14:m>
                <a:endParaRPr lang="en-IN" sz="2400" b="0" dirty="0"/>
              </a:p>
              <a:p>
                <a:endParaRPr lang="en-IN" sz="2400" b="0" dirty="0"/>
              </a:p>
              <a:p>
                <a:r>
                  <a:rPr lang="en-IN" sz="2400" dirty="0"/>
                  <a:t>(not MSE)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A0ACD-560C-9A23-E8A9-E0DE2F54CD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921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B36F-6575-2380-9295-86867221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DB0D-8881-C5EE-9446-CA5C48DC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0474E-E75D-BC88-310C-FE46C11878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1. What is a Decision Boundary?</a:t>
                </a:r>
              </a:p>
              <a:p>
                <a:r>
                  <a:rPr lang="en-IN" sz="2400" dirty="0"/>
                  <a:t>A </a:t>
                </a:r>
                <a:r>
                  <a:rPr lang="en-IN" sz="2400" b="1" dirty="0"/>
                  <a:t>decision boundary</a:t>
                </a:r>
                <a:r>
                  <a:rPr lang="en-IN" sz="2400" dirty="0"/>
                  <a:t> is the surface in feature space that </a:t>
                </a:r>
                <a:r>
                  <a:rPr lang="en-IN" sz="2400" b="1" dirty="0"/>
                  <a:t>separates classes</a:t>
                </a:r>
                <a:r>
                  <a:rPr lang="en-IN" sz="2400" dirty="0"/>
                  <a:t> predicted by the model.</a:t>
                </a:r>
              </a:p>
              <a:p>
                <a:r>
                  <a:rPr lang="en-IN" sz="2400" dirty="0"/>
                  <a:t>For logistic regression, predictions come from: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To assign a class, we compare this probability with a threshold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IN" sz="2400" dirty="0"/>
                  <a:t>(usually 0.5).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0474E-E75D-BC88-310C-FE46C11878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383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9F2C-6CE9-BF3A-8260-71FF2ED6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A0F1-F285-4496-2804-3F3AD6EE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1D835-DE2E-55E4-C271-8CCD91021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Mathematical Definition of the Boundary</a:t>
                </a:r>
              </a:p>
              <a:p>
                <a:r>
                  <a:rPr lang="en-IN" sz="2400" dirty="0"/>
                  <a:t>The boundary is where the model is </a:t>
                </a:r>
                <a:r>
                  <a:rPr lang="en-IN" sz="2400" b="1" dirty="0"/>
                  <a:t>maximally uncertain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1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Using the sigmoid property:</a:t>
                </a:r>
              </a:p>
              <a:p>
                <a:pPr marL="0" indent="0">
                  <a:buNone/>
                </a:pPr>
                <a:endParaRPr lang="en-IN" sz="1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ar-AE" sz="2400" i="1"/>
                        <m:t>  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⟺</m:t>
                      </m:r>
                      <m:r>
                        <m:rPr>
                          <m:nor/>
                        </m:rPr>
                        <a:rPr lang="ar-AE" sz="2400" i="1"/>
                        <m:t>  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So the </a:t>
                </a:r>
                <a:r>
                  <a:rPr lang="en-IN" sz="2400" b="1" dirty="0"/>
                  <a:t>decision boundary equation</a:t>
                </a:r>
                <a:r>
                  <a:rPr lang="en-IN" sz="2400" dirty="0"/>
                  <a:t> is: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500" dirty="0"/>
              </a:p>
              <a:p>
                <a:r>
                  <a:rPr lang="en-IN" sz="2400" dirty="0"/>
                  <a:t>The sigmoid does </a:t>
                </a:r>
                <a:r>
                  <a:rPr lang="en-IN" sz="2400" b="1" dirty="0"/>
                  <a:t>not</a:t>
                </a:r>
                <a:r>
                  <a:rPr lang="en-IN" sz="2400" dirty="0"/>
                  <a:t> change the boundary location—only the </a:t>
                </a:r>
                <a:r>
                  <a:rPr lang="en-IN" sz="2400" b="1" dirty="0"/>
                  <a:t>confidence</a:t>
                </a:r>
                <a:r>
                  <a:rPr lang="en-IN" sz="2400" dirty="0"/>
                  <a:t> around 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1D835-DE2E-55E4-C271-8CCD91021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477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A6FA0-96B1-9E70-EF05-26C01BAA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6959-448B-2A95-3B4A-990AFD18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63895-089A-7E52-87D9-046BD815C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Geometry in 1D (Single Feature</a:t>
                </a:r>
                <a:r>
                  <a:rPr lang="en-IN" sz="2400" b="1" dirty="0"/>
                  <a:t>)</a:t>
                </a:r>
              </a:p>
              <a:p>
                <a:r>
                  <a:rPr lang="en-IN" sz="2400" dirty="0"/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A </a:t>
                </a:r>
                <a:r>
                  <a:rPr lang="en-IN" sz="2400" b="1" dirty="0"/>
                  <a:t>single point</a:t>
                </a:r>
                <a:r>
                  <a:rPr lang="en-IN" sz="2400" dirty="0"/>
                  <a:t> on the number line</a:t>
                </a:r>
              </a:p>
              <a:p>
                <a:pPr lvl="1"/>
                <a:r>
                  <a:rPr lang="en-IN" dirty="0"/>
                  <a:t>Left side → class 0</a:t>
                </a:r>
              </a:p>
              <a:p>
                <a:pPr lvl="1"/>
                <a:r>
                  <a:rPr lang="en-IN" dirty="0"/>
                  <a:t>Right side → class 1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Logistic regression threshold becomes a </a:t>
                </a:r>
                <a:r>
                  <a:rPr lang="en-IN" sz="2400" b="1" dirty="0"/>
                  <a:t>cut point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63895-089A-7E52-87D9-046BD815C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651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D4DB-AAB7-A409-8301-1C3F3A52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E8E72-F9CA-1C31-E1AA-0C896C6F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68FA75-9B7D-3B15-86C8-64972DD79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Geometry in 2D (Two Features)</a:t>
                </a:r>
              </a:p>
              <a:p>
                <a:r>
                  <a:rPr lang="en-IN" sz="2400" dirty="0"/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Rewriting: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This is a </a:t>
                </a:r>
                <a:r>
                  <a:rPr lang="en-IN" sz="2400" b="1" dirty="0"/>
                  <a:t>straight line</a:t>
                </a:r>
                <a:endParaRPr lang="en-IN" sz="2400" dirty="0"/>
              </a:p>
              <a:p>
                <a:r>
                  <a:rPr lang="en-IN" sz="2400" dirty="0"/>
                  <a:t>Slope =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400" dirty="0"/>
              </a:p>
              <a:p>
                <a:r>
                  <a:rPr lang="en-IN" sz="2400" dirty="0"/>
                  <a:t>Intercept =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sz="2400" dirty="0"/>
              </a:p>
              <a:p>
                <a:r>
                  <a:rPr lang="en-IN" sz="2400" dirty="0"/>
                  <a:t>One side of the line → class 1</a:t>
                </a:r>
              </a:p>
              <a:p>
                <a:r>
                  <a:rPr lang="en-IN" sz="2400" dirty="0"/>
                  <a:t>Other side → class 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68FA75-9B7D-3B15-86C8-64972DD79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Plotting the decision boundary of a logistic regression model">
            <a:extLst>
              <a:ext uri="{FF2B5EF4-FFF2-40B4-BE49-F238E27FC236}">
                <a16:creationId xmlns:a16="http://schemas.microsoft.com/office/drawing/2014/main" id="{C833A9F8-1887-6B66-7516-A5A29AF5E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544" y="3069253"/>
            <a:ext cx="4630756" cy="347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66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78BC-CD0C-240E-AEE5-234BA68A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8D4B-F779-CEEB-DCEF-1F04E5BD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301E-604F-49AC-CACD-46A7171A4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5. Geometry in Higher Dimensions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Logistic regression always produces a </a:t>
            </a:r>
            <a:r>
              <a:rPr lang="en-US" sz="2400" b="1" dirty="0"/>
              <a:t>linear separator</a:t>
            </a:r>
            <a:r>
              <a:rPr lang="en-US" sz="2400" dirty="0"/>
              <a:t> in the original feature space.</a:t>
            </a:r>
          </a:p>
          <a:p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66B91-AA69-40C9-3811-900C2AA1C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456217"/>
              </p:ext>
            </p:extLst>
          </p:nvPr>
        </p:nvGraphicFramePr>
        <p:xfrm>
          <a:off x="2171241" y="2381815"/>
          <a:ext cx="721513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7565">
                  <a:extLst>
                    <a:ext uri="{9D8B030D-6E8A-4147-A177-3AD203B41FA5}">
                      <a16:colId xmlns:a16="http://schemas.microsoft.com/office/drawing/2014/main" val="1730822283"/>
                    </a:ext>
                  </a:extLst>
                </a:gridCol>
                <a:gridCol w="3607565">
                  <a:extLst>
                    <a:ext uri="{9D8B030D-6E8A-4147-A177-3AD203B41FA5}">
                      <a16:colId xmlns:a16="http://schemas.microsoft.com/office/drawing/2014/main" val="2638864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Decision Boundary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80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757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071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Plane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750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(d)D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Hyperplane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768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2860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83EF-C64C-51EB-4B6D-AEAD354C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A864-1D36-A76F-2EB5-AED6626E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86ABA-0EDF-5655-3DD8-5802BD6CD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6. Which Side is Which?</a:t>
                </a:r>
              </a:p>
              <a:p>
                <a:r>
                  <a:rPr lang="en-IN" sz="2400" dirty="0"/>
                  <a:t>From: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IN" sz="2400" dirty="0"/>
                  <a:t>→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ar-AE" sz="2400" dirty="0"/>
                  <a:t>→ </a:t>
                </a:r>
                <a:r>
                  <a:rPr lang="en-IN" sz="2400" dirty="0"/>
                  <a:t>predict class 1</a:t>
                </a:r>
              </a:p>
              <a:p>
                <a:r>
                  <a:rPr lang="en-IN" sz="2400" dirty="0"/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IN" sz="2400" dirty="0"/>
                  <a:t>→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ar-AE" sz="2400" dirty="0"/>
                  <a:t>→ </a:t>
                </a:r>
                <a:r>
                  <a:rPr lang="en-IN" sz="2400" dirty="0"/>
                  <a:t>predict class 0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The </a:t>
                </a:r>
                <a:r>
                  <a:rPr lang="en-IN" sz="2400" b="1" dirty="0"/>
                  <a:t>weight vector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2400" dirty="0"/>
                  <a:t>:</a:t>
                </a:r>
              </a:p>
              <a:p>
                <a:r>
                  <a:rPr lang="en-IN" sz="2400" dirty="0"/>
                  <a:t>Is </a:t>
                </a:r>
                <a:r>
                  <a:rPr lang="en-IN" sz="2400" b="1" dirty="0"/>
                  <a:t>perpendicular (normal)</a:t>
                </a:r>
                <a:r>
                  <a:rPr lang="en-IN" sz="2400" dirty="0"/>
                  <a:t> to the decision boundary</a:t>
                </a:r>
              </a:p>
              <a:p>
                <a:r>
                  <a:rPr lang="en-IN" sz="2400" dirty="0"/>
                  <a:t>Points toward the </a:t>
                </a:r>
                <a:r>
                  <a:rPr lang="en-IN" sz="2400" b="1" dirty="0"/>
                  <a:t>positive class (y=1)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86ABA-0EDF-5655-3DD8-5802BD6CD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305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42F0-9642-2438-05AC-FE28987D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B524-1BCC-63A0-10B3-E55192CB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ADEF2E-7A6F-C3A1-251A-808B9ED49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7. Distance from the Decision Boundary (Confidence)</a:t>
                </a:r>
              </a:p>
              <a:p>
                <a:r>
                  <a:rPr lang="en-IN" sz="2400" dirty="0"/>
                  <a:t>The </a:t>
                </a:r>
                <a:r>
                  <a:rPr lang="en-IN" sz="2400" b="1" dirty="0"/>
                  <a:t>signed distance</a:t>
                </a:r>
                <a:r>
                  <a:rPr lang="en-IN" sz="2400" dirty="0"/>
                  <a:t> of a point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/>
                  <a:t>from the boundary:</a:t>
                </a:r>
              </a:p>
              <a:p>
                <a:pPr marL="0" indent="0">
                  <a:buNone/>
                </a:pPr>
                <a:endParaRPr lang="en-IN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/>
                        <m:t>distance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Larger magnitude → higher confidence</a:t>
                </a:r>
              </a:p>
              <a:p>
                <a:r>
                  <a:rPr lang="en-IN" sz="2400" dirty="0"/>
                  <a:t>Sign → predicted class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Sigmoid maps this distance to probability.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ADEF2E-7A6F-C3A1-251A-808B9ED49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3141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8288B-AF1D-BA2D-8C14-708238EF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06BA-B07E-7456-8511-30EAC8BB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9D4A1-A42B-15A3-8C5C-5A2DB13B7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8.  Probability Contours (Iso-Probability Lines</a:t>
                </a:r>
                <a:r>
                  <a:rPr lang="en-IN" sz="2400" b="1" dirty="0"/>
                  <a:t>)</a:t>
                </a:r>
              </a:p>
              <a:p>
                <a:r>
                  <a:rPr lang="en-IN" sz="2400" dirty="0"/>
                  <a:t>Lines of constant probability satisfy: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Parallel to the decision boundary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IN" sz="2400" dirty="0"/>
                  <a:t>→ higher probability of class 1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IN" sz="2400" dirty="0"/>
                  <a:t>→ higher probability of class 0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This creates smooth probability gradients across 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B9D4A1-A42B-15A3-8C5C-5A2DB13B7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673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0FA6-B6DF-A65D-1491-940D988A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C87E-9DA5-EC7A-7353-231B1DC9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Decision Boundary &amp;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D90EE-E79F-14EE-36EA-1E9878F43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9. Effect of Threshold Change</a:t>
                </a:r>
              </a:p>
              <a:p>
                <a:r>
                  <a:rPr lang="en-IN" sz="2400" dirty="0"/>
                  <a:t>If threshold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Boundary </a:t>
                </a:r>
                <a:r>
                  <a:rPr lang="en-IN" sz="2400" b="1" dirty="0"/>
                  <a:t>shifts parallel</a:t>
                </a:r>
                <a:endParaRPr lang="en-IN" sz="2400" dirty="0"/>
              </a:p>
              <a:p>
                <a:r>
                  <a:rPr lang="en-IN" sz="2400" dirty="0"/>
                  <a:t>Orientation unchanged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2D90EE-E79F-14EE-36EA-1E9878F43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415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D8A9-F469-3EF1-E68F-355989683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9397-5D42-FBFF-2DDE-B9395F359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27AD-2226-6D56-645F-2C3189798A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1. Why Do We Need a Special Loss Function</a:t>
                </a:r>
                <a:r>
                  <a:rPr lang="en-IN" sz="2400" b="1" dirty="0"/>
                  <a:t>?</a:t>
                </a:r>
              </a:p>
              <a:p>
                <a:r>
                  <a:rPr lang="en-IN" sz="2400" dirty="0"/>
                  <a:t>In logistic regression:</a:t>
                </a:r>
              </a:p>
              <a:p>
                <a:r>
                  <a:rPr lang="en-IN" sz="2400" dirty="0"/>
                  <a:t>Output is a </a:t>
                </a:r>
                <a:r>
                  <a:rPr lang="en-IN" sz="2400" b="1" dirty="0"/>
                  <a:t>probability</a:t>
                </a:r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Target is </a:t>
                </a:r>
                <a:r>
                  <a:rPr lang="en-IN" sz="2400" b="1" dirty="0"/>
                  <a:t>binary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A good loss function should:</a:t>
                </a:r>
              </a:p>
              <a:p>
                <a:r>
                  <a:rPr lang="en-IN" sz="2400" dirty="0"/>
                  <a:t>Penalize </a:t>
                </a:r>
                <a:r>
                  <a:rPr lang="en-IN" sz="2400" b="1" dirty="0"/>
                  <a:t>wrong predictions heavily</a:t>
                </a:r>
                <a:endParaRPr lang="en-IN" sz="2400" dirty="0"/>
              </a:p>
              <a:p>
                <a:r>
                  <a:rPr lang="en-IN" sz="2400" dirty="0"/>
                  <a:t>Reward </a:t>
                </a:r>
                <a:r>
                  <a:rPr lang="en-IN" sz="2400" b="1" dirty="0"/>
                  <a:t>high-confidence correct predictions</a:t>
                </a:r>
                <a:endParaRPr lang="en-IN" sz="2400" dirty="0"/>
              </a:p>
              <a:p>
                <a:r>
                  <a:rPr lang="en-IN" sz="2400" dirty="0"/>
                  <a:t>Be </a:t>
                </a:r>
                <a:r>
                  <a:rPr lang="en-IN" sz="2400" b="1" dirty="0"/>
                  <a:t>convex</a:t>
                </a:r>
                <a:r>
                  <a:rPr lang="en-IN" sz="2400" dirty="0"/>
                  <a:t> (single global minimum)</a:t>
                </a:r>
              </a:p>
              <a:p>
                <a:r>
                  <a:rPr lang="en-IN" sz="2400" dirty="0"/>
                  <a:t>Be consistent with </a:t>
                </a:r>
                <a:r>
                  <a:rPr lang="en-IN" sz="2400" b="1" dirty="0"/>
                  <a:t>probability theory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127AD-2226-6D56-645F-2C3189798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 b="-3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305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7859-883A-3940-B463-3BADC4F3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4EB0-4AD2-C0F5-1663-8EDFE6F3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E1571-AE49-EFC7-CF3D-C0067D250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Probabilistic Foundation (Bernoulli Model</a:t>
                </a:r>
                <a:r>
                  <a:rPr lang="en-IN" sz="2400" b="1" dirty="0"/>
                  <a:t>)</a:t>
                </a:r>
              </a:p>
              <a:p>
                <a:r>
                  <a:rPr lang="en-IN" sz="2400" dirty="0"/>
                  <a:t>Each label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400" dirty="0"/>
                  <a:t>is </a:t>
                </a:r>
                <a:r>
                  <a:rPr lang="en-IN" sz="2400" dirty="0" err="1"/>
                  <a:t>modeled</a:t>
                </a:r>
                <a:r>
                  <a:rPr lang="en-IN" sz="2400" dirty="0"/>
                  <a:t> as a </a:t>
                </a:r>
                <a:r>
                  <a:rPr lang="en-IN" sz="2400" b="1" dirty="0"/>
                  <a:t>Bernoulli random variable</a:t>
                </a:r>
                <a:r>
                  <a:rPr lang="en-IN" sz="2400" dirty="0"/>
                  <a:t> with parameter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ar-AE" sz="2400" dirty="0"/>
                  <a:t>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d>
                        <m:dPr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sz="2400" dirty="0"/>
                  <a:t>: probability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ar-AE" sz="2400" dirty="0"/>
              </a:p>
              <a:p>
                <a:r>
                  <a:rPr lang="en-IN" sz="2400" dirty="0"/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400" dirty="0"/>
                  <a:t>: probability =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1−</m:t>
                    </m:r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naturally leads to a </a:t>
                </a:r>
                <a:r>
                  <a:rPr lang="en-IN" sz="2400" b="1" dirty="0"/>
                  <a:t>likelihood-based loss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E1571-AE49-EFC7-CF3D-C0067D250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686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97B6-956C-E815-3322-3C0DEFC3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080C-D2A1-3394-76A3-7A014BFD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4DBB-EA28-080D-0333-8BC4D0D77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3. Negative Log-Likelihood → Loss Function</a:t>
            </a:r>
          </a:p>
          <a:p>
            <a:r>
              <a:rPr lang="en-US" sz="2400" b="1" dirty="0"/>
              <a:t>Log-likelihood for one sample: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dirty="0"/>
              <a:t>To train the model, we </a:t>
            </a:r>
            <a:r>
              <a:rPr lang="en-US" sz="2400" b="1" dirty="0"/>
              <a:t>maximize</a:t>
            </a:r>
            <a:r>
              <a:rPr lang="en-US" sz="2400" dirty="0"/>
              <a:t> this likelihood.</a:t>
            </a:r>
          </a:p>
          <a:p>
            <a:r>
              <a:rPr lang="en-US" sz="2400" dirty="0"/>
              <a:t>Equivalently, we </a:t>
            </a:r>
            <a:r>
              <a:rPr lang="en-US" sz="2400" b="1" dirty="0"/>
              <a:t>minimize the negative log-likelihood</a:t>
            </a:r>
            <a:r>
              <a:rPr lang="en-US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FFA00-06D9-9568-DF91-2D0A3699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568" y="2512867"/>
            <a:ext cx="6344864" cy="7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907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0A4FF-BF8F-E702-EC53-A58FBCD4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A6E6-7CE8-B56E-99A0-B945011FE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ED20-F785-2CA3-3D86-4C486B62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4. Binary Cross-Entropy (Log Loss)</a:t>
            </a:r>
          </a:p>
          <a:p>
            <a:r>
              <a:rPr lang="en-IN" sz="2400" b="1" dirty="0"/>
              <a:t>Loss for a single data point</a:t>
            </a:r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dirty="0"/>
              <a:t>This is called:</a:t>
            </a:r>
          </a:p>
          <a:p>
            <a:pPr lvl="1"/>
            <a:r>
              <a:rPr lang="en-IN" dirty="0"/>
              <a:t>Binary Cross-Entropy</a:t>
            </a:r>
          </a:p>
          <a:p>
            <a:pPr lvl="1"/>
            <a:r>
              <a:rPr lang="en-IN" dirty="0"/>
              <a:t>Log Loss</a:t>
            </a:r>
          </a:p>
          <a:p>
            <a:pPr lvl="1"/>
            <a:r>
              <a:rPr lang="en-IN" dirty="0"/>
              <a:t>Negative Log-Likelihood (Bernoulli)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All are mathematically equivalent.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7268F-794B-AFBB-CF67-F9477CD2B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341" y="2326879"/>
            <a:ext cx="6251302" cy="7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02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BD4B-826D-2094-C714-5759DC22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5782-A26C-E80B-DD18-B03692BA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89F4D-CDB9-9C8E-2024-DD4321DEC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Dataset-Level Loss</a:t>
                </a:r>
              </a:p>
              <a:p>
                <a:r>
                  <a:rPr lang="en-IN" sz="2400" dirty="0"/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 dirty="0"/>
                  <a:t>training samples:</a:t>
                </a:r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where: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89F4D-CDB9-9C8E-2024-DD4321DEC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14C2FA-3B51-E344-1DF9-E50896056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952" y="2202843"/>
            <a:ext cx="7214634" cy="142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12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D486-F425-14E3-CFDF-C35C0594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3A11-2D94-7608-AE58-4786B40C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47877E-2658-FAB1-BD6E-A3855A2969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6. Why This Loss Makes Sense (Intuition)</a:t>
                </a:r>
              </a:p>
              <a:p>
                <a:r>
                  <a:rPr lang="en-US" sz="2400" b="1" dirty="0"/>
                  <a:t>Case 1: True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400" dirty="0"/>
              </a:p>
              <a:p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47877E-2658-FAB1-BD6E-A3855A296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AD249B-66D3-6012-8D93-C91139A6D9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9582793"/>
                  </p:ext>
                </p:extLst>
              </p:nvPr>
            </p:nvGraphicFramePr>
            <p:xfrm>
              <a:off x="838200" y="3269774"/>
              <a:ext cx="7501570" cy="198355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750785">
                      <a:extLst>
                        <a:ext uri="{9D8B030D-6E8A-4147-A177-3AD203B41FA5}">
                          <a16:colId xmlns:a16="http://schemas.microsoft.com/office/drawing/2014/main" val="1793325996"/>
                        </a:ext>
                      </a:extLst>
                    </a:gridCol>
                    <a:gridCol w="3750785">
                      <a:extLst>
                        <a:ext uri="{9D8B030D-6E8A-4147-A177-3AD203B41FA5}">
                          <a16:colId xmlns:a16="http://schemas.microsoft.com/office/drawing/2014/main" val="33359176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ar-AE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5894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0.99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Very small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11131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Moderate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83046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0.01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Very large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13348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AD249B-66D3-6012-8D93-C91139A6D9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9582793"/>
                  </p:ext>
                </p:extLst>
              </p:nvPr>
            </p:nvGraphicFramePr>
            <p:xfrm>
              <a:off x="838200" y="3269774"/>
              <a:ext cx="7501570" cy="182880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750785">
                      <a:extLst>
                        <a:ext uri="{9D8B030D-6E8A-4147-A177-3AD203B41FA5}">
                          <a16:colId xmlns:a16="http://schemas.microsoft.com/office/drawing/2014/main" val="1793325996"/>
                        </a:ext>
                      </a:extLst>
                    </a:gridCol>
                    <a:gridCol w="3750785">
                      <a:extLst>
                        <a:ext uri="{9D8B030D-6E8A-4147-A177-3AD203B41FA5}">
                          <a16:colId xmlns:a16="http://schemas.microsoft.com/office/drawing/2014/main" val="33359176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2" t="-10667" r="-100325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Loss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258949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0.99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Very small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111313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Moderate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783046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/>
                            <a:t>0.01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dirty="0"/>
                            <a:t>Very large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13348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5B3D60-CFE0-9531-3CAF-80F1B1602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383" y="2206272"/>
            <a:ext cx="1858597" cy="53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15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36A6-C160-D4F0-6EF0-7F0D1C0A0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73FA-EAC6-4B64-6856-2A696FA4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4497EC-8810-7722-78F0-B7DC35E8E5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6. Why This Loss Makes Sense (Intuition)</a:t>
                </a:r>
              </a:p>
              <a:p>
                <a:r>
                  <a:rPr lang="en-US" sz="2400" b="1" dirty="0"/>
                  <a:t>Case 2: True label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1" dirty="0"/>
              </a:p>
              <a:p>
                <a:endParaRPr lang="en-IN" sz="2400" b="1" dirty="0"/>
              </a:p>
              <a:p>
                <a:endParaRPr lang="en-IN" sz="2400" b="1" dirty="0"/>
              </a:p>
              <a:p>
                <a:endParaRPr lang="en-IN" sz="2400" b="1" dirty="0"/>
              </a:p>
              <a:p>
                <a:endParaRPr lang="en-IN" sz="2400" b="1" dirty="0"/>
              </a:p>
              <a:p>
                <a:endParaRPr lang="en-IN" sz="2400" b="1" dirty="0"/>
              </a:p>
              <a:p>
                <a:endParaRPr lang="en-IN" sz="2400" b="1" dirty="0"/>
              </a:p>
              <a:p>
                <a:endParaRPr lang="en-US" sz="2400" b="1" dirty="0"/>
              </a:p>
              <a:p>
                <a:r>
                  <a:rPr lang="en-US" sz="2400" b="1" dirty="0"/>
                  <a:t>Confident but wrong predictions are punished exponentially</a:t>
                </a:r>
                <a:r>
                  <a:rPr lang="en-US" sz="2400" dirty="0"/>
                  <a:t>.</a:t>
                </a:r>
              </a:p>
              <a:p>
                <a:endParaRPr lang="en-US" sz="2400" b="1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4497EC-8810-7722-78F0-B7DC35E8E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2926D7-59B3-91F5-5F52-6EF9D99B6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367690"/>
              </p:ext>
            </p:extLst>
          </p:nvPr>
        </p:nvGraphicFramePr>
        <p:xfrm>
          <a:off x="838200" y="3269774"/>
          <a:ext cx="6454966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27483">
                  <a:extLst>
                    <a:ext uri="{9D8B030D-6E8A-4147-A177-3AD203B41FA5}">
                      <a16:colId xmlns:a16="http://schemas.microsoft.com/office/drawing/2014/main" val="3362436043"/>
                    </a:ext>
                  </a:extLst>
                </a:gridCol>
                <a:gridCol w="3227483">
                  <a:extLst>
                    <a:ext uri="{9D8B030D-6E8A-4147-A177-3AD203B41FA5}">
                      <a16:colId xmlns:a16="http://schemas.microsoft.com/office/drawing/2014/main" val="1507419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(\hat{p})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0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Very small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443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15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Very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25709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97645EE-39F2-B45C-77EB-7EB8D3FF6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471" y="2179379"/>
            <a:ext cx="2555029" cy="59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40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5040-C8B2-AA8A-4F7C-893CFAA6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9BFE-8D68-E0B9-C514-A60932B1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6D912A-E8F8-CD98-AA51-BD3BED9918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7. Loss in Terms of the Linear Score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IN" sz="2400" b="1" dirty="0">
                  <a:solidFill>
                    <a:srgbClr val="C00000"/>
                  </a:solidFill>
                </a:endParaRPr>
              </a:p>
              <a:p>
                <a:r>
                  <a:rPr lang="en-IN" sz="2400" dirty="0"/>
                  <a:t>Since: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The loss can be rewritten as:</a:t>
                </a:r>
              </a:p>
              <a:p>
                <a:r>
                  <a:rPr lang="en-IN" sz="2400" dirty="0"/>
                  <a:t>Numerically stable</a:t>
                </a:r>
              </a:p>
              <a:p>
                <a:r>
                  <a:rPr lang="en-IN" sz="2400" dirty="0"/>
                  <a:t>Used internally in most ML libraries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6D912A-E8F8-CD98-AA51-BD3BED991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578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BF8E-06F4-43A0-DE99-186A68D3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28F4-7047-43E4-EDF2-C606DCB6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Loss Function for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29251-3016-A513-8468-944417414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8.Why Not Mean Squared Error (MSE)?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C25973-83B6-BBD0-DC81-5F25440DB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16013"/>
              </p:ext>
            </p:extLst>
          </p:nvPr>
        </p:nvGraphicFramePr>
        <p:xfrm>
          <a:off x="838200" y="2452322"/>
          <a:ext cx="105156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799028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09285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57200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Cross-Entropy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63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Designed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183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Penalizes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63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Convex for logistic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05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Probabilistic 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42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Gradient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940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960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CF59-BCF3-B152-7547-75495A2B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7749-66F8-A97E-B6D9-16CCE20C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71BA98-86CF-0ADA-93B1-099684242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1. What is Maximum Likelihood Estimation (MLE)?</a:t>
                </a:r>
              </a:p>
              <a:p>
                <a:r>
                  <a:rPr lang="en-US" sz="2400" b="1" dirty="0"/>
                  <a:t>Maximum Likelihood Estimation (MLE)</a:t>
                </a:r>
                <a:r>
                  <a:rPr lang="en-US" sz="2400" dirty="0"/>
                  <a:t> is a statistical principle for estimating model parameters.</a:t>
                </a:r>
              </a:p>
              <a:p>
                <a:r>
                  <a:rPr lang="en-US" sz="2400" b="1" dirty="0"/>
                  <a:t>Core idea:</a:t>
                </a:r>
                <a:br>
                  <a:rPr lang="en-US" sz="2400" dirty="0"/>
                </a:br>
                <a:r>
                  <a:rPr lang="en-US" sz="2400" dirty="0"/>
                  <a:t>Choose model parameters such that the </a:t>
                </a:r>
                <a:r>
                  <a:rPr lang="en-US" sz="2400" b="1" dirty="0"/>
                  <a:t>observed data is most probable</a:t>
                </a:r>
                <a:r>
                  <a:rPr lang="en-US" sz="2400" dirty="0"/>
                  <a:t> under the model.</a:t>
                </a:r>
              </a:p>
              <a:p>
                <a:r>
                  <a:rPr lang="en-US" sz="2400" dirty="0"/>
                  <a:t>In logistic regression:</a:t>
                </a:r>
              </a:p>
              <a:p>
                <a:r>
                  <a:rPr lang="en-US" sz="2400" b="1" dirty="0"/>
                  <a:t>Data</a:t>
                </a:r>
                <a:r>
                  <a:rPr lang="en-US" sz="2400" dirty="0"/>
                  <a:t>: fixed and observed</a:t>
                </a:r>
              </a:p>
              <a:p>
                <a:r>
                  <a:rPr lang="en-US" sz="2400" b="1" dirty="0"/>
                  <a:t>Parameters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(unknown, to be learned)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71BA98-86CF-0ADA-93B1-099684242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 r="-1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5828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922F-8B80-411A-C082-518B7A18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6D38-3F9D-EC26-6634-FBE6DF32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37BA6-57CC-981E-EEB3-155388BFC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2. Likelihood vs Probability (Crucial Distinction</a:t>
                </a:r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IN" sz="2400" dirty="0"/>
                  <a:t> In training:</a:t>
                </a:r>
              </a:p>
              <a:p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/>
                          <m:t>data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sz="2400" b="0" dirty="0"/>
              </a:p>
              <a:p>
                <a:r>
                  <a:rPr lang="en-IN" sz="2400" dirty="0"/>
                  <a:t>We do </a:t>
                </a:r>
                <a:r>
                  <a:rPr lang="en-IN" sz="2400" b="1" dirty="0"/>
                  <a:t>not</a:t>
                </a:r>
                <a:r>
                  <a:rPr lang="en-IN" sz="2400" dirty="0"/>
                  <a:t> ask: “What is the probability of data?”</a:t>
                </a:r>
              </a:p>
              <a:p>
                <a:r>
                  <a:rPr lang="en-IN" sz="2400" dirty="0"/>
                  <a:t>We ask:   “For which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/>
                  <a:t>is this data most likely?”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37BA6-57CC-981E-EEB3-155388BFC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5C8300-4AEF-1A0F-6153-F0FEFF523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21063"/>
              </p:ext>
            </p:extLst>
          </p:nvPr>
        </p:nvGraphicFramePr>
        <p:xfrm>
          <a:off x="3339028" y="1899276"/>
          <a:ext cx="8338851" cy="1371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2282">
                  <a:extLst>
                    <a:ext uri="{9D8B030D-6E8A-4147-A177-3AD203B41FA5}">
                      <a16:colId xmlns:a16="http://schemas.microsoft.com/office/drawing/2014/main" val="19127192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26736079"/>
                    </a:ext>
                  </a:extLst>
                </a:gridCol>
                <a:gridCol w="2853369">
                  <a:extLst>
                    <a:ext uri="{9D8B030D-6E8A-4147-A177-3AD203B41FA5}">
                      <a16:colId xmlns:a16="http://schemas.microsoft.com/office/drawing/2014/main" val="1642023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varies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is fixed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230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02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31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649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02D7-3037-AD4D-8169-6276B871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F99-8FBA-A98C-4C53-92C13403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0DB97D-7A77-6D12-DE77-FEB3AAC971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Probabilistic Model in Logistic Regression</a:t>
                </a:r>
              </a:p>
              <a:p>
                <a:r>
                  <a:rPr lang="en-IN" sz="2400" dirty="0"/>
                  <a:t>Logistic regression models: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=1∣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400" dirty="0"/>
                  <a:t>, </a:t>
                </a:r>
                <a:r>
                  <a:rPr lang="en-IN" sz="2400" dirty="0"/>
                  <a:t>we assume:</a:t>
                </a:r>
              </a:p>
              <a:p>
                <a:endParaRPr lang="en-IN" sz="2400" i="1" dirty="0"/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IN" sz="2400" i="1"/>
                      <m:t>Bernoulli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i="1"/>
                      <m:t>where</m:t>
                    </m:r>
                    <m:r>
                      <m:rPr>
                        <m:nor/>
                      </m:rPr>
                      <a:rPr lang="en-IN" sz="2400" i="1"/>
                      <m:t> 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0DB97D-7A77-6D12-DE77-FEB3AAC97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9903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0F09-AEF7-C582-EFA2-C7074D3F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5BCD-5A07-645A-B9FC-B5F4CFED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FC0DC-3EA3-849D-A262-7C61AC73A9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Likelihood for a Single Training Example</a:t>
                </a:r>
              </a:p>
              <a:p>
                <a:r>
                  <a:rPr lang="en-IN" sz="2400" dirty="0"/>
                  <a:t>Using the Bernoulli distribution: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;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; 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𝑤𝑏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d>
                            <m:dPr>
                              <m:endChr m:val="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compact form covers:</a:t>
                </a:r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=1⇒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endParaRPr lang="en-IN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EFC0DC-3EA3-849D-A262-7C61AC73A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9566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BF6A-931B-C0D9-8284-440396FC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D52B-5C90-C697-7903-16FD98C1C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3B22C-409A-6AC4-C740-EE7FBC5392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Likelihood for the Entire Dataset</a:t>
                </a:r>
              </a:p>
              <a:p>
                <a:r>
                  <a:rPr lang="en-IN" sz="2400" dirty="0"/>
                  <a:t>Assume training samples are </a:t>
                </a:r>
                <a:r>
                  <a:rPr lang="en-IN" sz="2400" b="1" dirty="0" err="1"/>
                  <a:t>i.i.d.</a:t>
                </a:r>
                <a:endParaRPr lang="en-IN" sz="2400" dirty="0"/>
              </a:p>
              <a:p>
                <a:r>
                  <a:rPr lang="en-IN" sz="2400" dirty="0"/>
                  <a:t>For dataset </a:t>
                </a:r>
              </a:p>
              <a:p>
                <a:endParaRPr lang="en-IN" sz="2400" dirty="0"/>
              </a:p>
              <a:p>
                <a:endParaRPr lang="ar-AE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product measures </a:t>
                </a:r>
                <a:r>
                  <a:rPr lang="en-IN" sz="2400" b="1" dirty="0"/>
                  <a:t>how well the model explains all observed labels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D3B22C-409A-6AC4-C740-EE7FBC539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6273C1E-532C-A935-6B19-FDF66E76E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877" y="2141853"/>
            <a:ext cx="1967307" cy="513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AA993-5727-D158-F327-B93B7B5D2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885" y="2222629"/>
            <a:ext cx="4163088" cy="14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130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60BFA-9CE6-3D76-D7A5-1BD1404F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4108-8293-AB28-0C91-0B9FACD6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B1F97-6021-9C63-7A2C-E3886DAD8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6. Log-Likelihood (Why We Take Logs)</a:t>
            </a:r>
          </a:p>
          <a:p>
            <a:r>
              <a:rPr lang="en-IN" sz="2400" dirty="0"/>
              <a:t>Multiplying many probabilities causes:</a:t>
            </a:r>
          </a:p>
          <a:p>
            <a:r>
              <a:rPr lang="en-IN" sz="2400" dirty="0"/>
              <a:t>Numerical underflow</a:t>
            </a:r>
          </a:p>
          <a:p>
            <a:r>
              <a:rPr lang="en-IN" sz="2400" dirty="0"/>
              <a:t>Difficult differentiation</a:t>
            </a:r>
          </a:p>
          <a:p>
            <a:r>
              <a:rPr lang="en-IN" sz="2400" dirty="0"/>
              <a:t>So we take logarithm (monotonic):</a:t>
            </a:r>
          </a:p>
          <a:p>
            <a:pPr lvl="1"/>
            <a:r>
              <a:rPr lang="en-IN" dirty="0"/>
              <a:t>Product → Sum</a:t>
            </a:r>
          </a:p>
          <a:p>
            <a:pPr lvl="1"/>
            <a:r>
              <a:rPr lang="en-IN" dirty="0"/>
              <a:t>Same </a:t>
            </a:r>
            <a:r>
              <a:rPr lang="en-IN" dirty="0" err="1"/>
              <a:t>maximizer</a:t>
            </a:r>
            <a:endParaRPr lang="en-IN" dirty="0"/>
          </a:p>
          <a:p>
            <a:pPr lvl="1"/>
            <a:r>
              <a:rPr lang="en-IN" dirty="0"/>
              <a:t>Easier gradients</a:t>
            </a:r>
          </a:p>
        </p:txBody>
      </p:sp>
    </p:spTree>
    <p:extLst>
      <p:ext uri="{BB962C8B-B14F-4D97-AF65-F5344CB8AC3E}">
        <p14:creationId xmlns:p14="http://schemas.microsoft.com/office/powerpoint/2010/main" val="24037602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5AD-C3E5-08BC-E1DD-F6BC61ED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07F8-9D86-1083-7C97-FBEAAB30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3F14-DD5E-6BC2-919E-09F627639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7. Maximum Likelihood Objective</a:t>
            </a:r>
          </a:p>
          <a:p>
            <a:r>
              <a:rPr lang="en-IN" sz="2400" dirty="0"/>
              <a:t>MLE seeks:</a:t>
            </a:r>
          </a:p>
          <a:p>
            <a:endParaRPr lang="en-IN" sz="2400" dirty="0"/>
          </a:p>
          <a:p>
            <a:endParaRPr lang="ar-AE" sz="2400" dirty="0"/>
          </a:p>
          <a:p>
            <a:r>
              <a:rPr lang="en-IN" sz="2400" dirty="0"/>
              <a:t>That 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E6F7-F93F-2A45-CCA0-31B71E63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082" y="1932873"/>
            <a:ext cx="5194412" cy="1080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47C08-A428-56E8-9C15-390DE4BD0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600" y="3506920"/>
            <a:ext cx="5934342" cy="131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19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8F0F-533A-1483-02DE-7768702F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E98E-9447-5736-50B7-21B8DB78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F54DDE-7284-E798-8E42-EEEA56115E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8. From MLE to Loss Function</a:t>
                </a:r>
              </a:p>
              <a:p>
                <a:r>
                  <a:rPr lang="en-IN" sz="2400" dirty="0"/>
                  <a:t>Optimization algorithms typically </a:t>
                </a:r>
                <a:r>
                  <a:rPr lang="en-IN" sz="2400" b="1" dirty="0"/>
                  <a:t>minimize</a:t>
                </a:r>
                <a:r>
                  <a:rPr lang="en-IN" sz="2400" dirty="0"/>
                  <a:t> rather than maximize.</a:t>
                </a:r>
              </a:p>
              <a:p>
                <a:r>
                  <a:rPr lang="en-IN" sz="2400" dirty="0"/>
                  <a:t>So define </a:t>
                </a:r>
                <a:r>
                  <a:rPr lang="en-IN" sz="2400" b="1" dirty="0"/>
                  <a:t>loss = negative log-likelihood</a:t>
                </a:r>
                <a:r>
                  <a:rPr lang="en-IN" sz="2400" dirty="0"/>
                  <a:t>: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endParaRPr lang="ar-AE" sz="2400" dirty="0"/>
              </a:p>
              <a:p>
                <a:r>
                  <a:rPr lang="en-IN" sz="2400" dirty="0"/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gives </a:t>
                </a:r>
                <a:r>
                  <a:rPr lang="en-IN" sz="2400" b="1" dirty="0"/>
                  <a:t>average loss</a:t>
                </a:r>
                <a:r>
                  <a:rPr lang="en-IN" sz="2400" dirty="0"/>
                  <a:t>.</a:t>
                </a:r>
              </a:p>
              <a:p>
                <a:r>
                  <a:rPr lang="en-IN" sz="2400" dirty="0"/>
                  <a:t>This is exactly the </a:t>
                </a:r>
                <a:r>
                  <a:rPr lang="en-IN" sz="2400" b="1" dirty="0"/>
                  <a:t>Binary Cross-Entropy Loss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F54DDE-7284-E798-8E42-EEEA56115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74D3115-B1BC-1E38-6182-7A070ACB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385" y="2701887"/>
            <a:ext cx="6328233" cy="207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7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88BF-40E2-828D-5D89-5C049C6C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0B3B-C3F5-816C-C652-DF3209DE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3B10A-50C8-A7FB-83A0-40F607FEA9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9. Intuitive Interpretation of MLE</a:t>
                </a:r>
              </a:p>
              <a:p>
                <a:r>
                  <a:rPr lang="en-IN" sz="2400" dirty="0"/>
                  <a:t>MLE pushes the model to:</a:t>
                </a:r>
              </a:p>
              <a:p>
                <a:r>
                  <a:rPr lang="en-IN" sz="2400" dirty="0"/>
                  <a:t>Assign </a:t>
                </a:r>
                <a:r>
                  <a:rPr lang="en-IN" sz="2400" b="1" dirty="0"/>
                  <a:t>high probability</a:t>
                </a:r>
                <a:r>
                  <a:rPr lang="en-IN" sz="2400" dirty="0"/>
                  <a:t> to true class labels</a:t>
                </a:r>
              </a:p>
              <a:p>
                <a:r>
                  <a:rPr lang="en-IN" sz="2400" dirty="0"/>
                  <a:t>Assign </a:t>
                </a:r>
                <a:r>
                  <a:rPr lang="en-IN" sz="2400" b="1" dirty="0"/>
                  <a:t>low probability</a:t>
                </a:r>
                <a:r>
                  <a:rPr lang="en-IN" sz="2400" dirty="0"/>
                  <a:t> to incorrect classes</a:t>
                </a:r>
              </a:p>
              <a:p>
                <a:r>
                  <a:rPr lang="en-IN" sz="2400" dirty="0"/>
                  <a:t>Because:</a:t>
                </a:r>
              </a:p>
              <a:p>
                <a:pPr lvl="1"/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IN" dirty="0"/>
                  <a:t>→ loss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IN" dirty="0"/>
                  <a:t>→ loss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IN" dirty="0"/>
              </a:p>
              <a:p>
                <a:endParaRPr lang="en-IN" sz="2400" b="1" dirty="0"/>
              </a:p>
              <a:p>
                <a:r>
                  <a:rPr lang="en-IN" sz="2400" b="1" dirty="0"/>
                  <a:t>Confident mistakes are punished the most.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3B10A-50C8-A7FB-83A0-40F607FEA9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4087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8682-8683-EDA1-7256-CFADC6C2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8B2F-E3DB-BC4A-77A5-1BFFA434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Maximum Likelihood Estimation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EBBD7-D74B-F443-CC14-F5A6D3A3F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10. Why MLE is Ideal for Logistic Regression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BC122F-F8EF-94D7-BD3C-BB464D572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11721"/>
              </p:ext>
            </p:extLst>
          </p:nvPr>
        </p:nvGraphicFramePr>
        <p:xfrm>
          <a:off x="1420581" y="2610100"/>
          <a:ext cx="9024257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24650">
                  <a:extLst>
                    <a:ext uri="{9D8B030D-6E8A-4147-A177-3AD203B41FA5}">
                      <a16:colId xmlns:a16="http://schemas.microsoft.com/office/drawing/2014/main" val="1055177158"/>
                    </a:ext>
                  </a:extLst>
                </a:gridCol>
                <a:gridCol w="5399607">
                  <a:extLst>
                    <a:ext uri="{9D8B030D-6E8A-4147-A177-3AD203B41FA5}">
                      <a16:colId xmlns:a16="http://schemas.microsoft.com/office/drawing/2014/main" val="4215745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592663"/>
                  </a:ext>
                </a:extLst>
              </a:tr>
              <a:tr h="261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Probabilistic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Matches sigmoid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401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Convex 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Global optimum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050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Strong gradients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968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Statistical foundation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Bernoulli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6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Interpretable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Likelihood of observed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72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2069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E54E-BBC4-CC4E-77EB-A9186F98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6520-071D-7491-0246-EB037BA1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154BF-724E-6D49-4781-C064AD9E7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1. Why Gradient Descent?</a:t>
                </a:r>
              </a:p>
              <a:p>
                <a:r>
                  <a:rPr lang="en-US" sz="2400" dirty="0"/>
                  <a:t>In logistic regression, we </a:t>
                </a:r>
                <a:r>
                  <a:rPr lang="en-US" sz="2400" b="1" dirty="0"/>
                  <a:t>cannot</a:t>
                </a:r>
                <a:r>
                  <a:rPr lang="en-US" sz="2400" dirty="0"/>
                  <a:t> solve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in closed form (unlike linear regression). So, we </a:t>
                </a:r>
                <a:r>
                  <a:rPr lang="en-US" sz="2400" b="1" dirty="0"/>
                  <a:t>iteratively minimize</a:t>
                </a:r>
                <a:r>
                  <a:rPr lang="en-US" sz="2400" dirty="0"/>
                  <a:t> the loss using </a:t>
                </a:r>
                <a:r>
                  <a:rPr lang="en-US" sz="2400" b="1" dirty="0"/>
                  <a:t>Gradient Descent (GD)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Objective (Binary Cross-Entropy):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154BF-724E-6D49-4781-C064AD9E7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63B029-3F48-4E11-3B11-036DCA81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283" y="4025498"/>
            <a:ext cx="9443433" cy="108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329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34B9-CD4D-7579-BEE4-05BCDAAF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341F-5DA1-6A27-EE00-382ABA62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B4A0B-D3F7-5B34-7917-6C1D34BFC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Core Idea of Gradient Descent</a:t>
                </a:r>
              </a:p>
              <a:p>
                <a:r>
                  <a:rPr lang="en-IN" sz="2400" dirty="0"/>
                  <a:t>Gradient descent updates parameters in the </a:t>
                </a:r>
                <a:r>
                  <a:rPr lang="en-IN" sz="2400" b="1" dirty="0"/>
                  <a:t>direction of steepest decrease</a:t>
                </a:r>
                <a:r>
                  <a:rPr lang="en-IN" sz="2400" dirty="0"/>
                  <a:t> of the loss.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14:m>
                  <m:oMath xmlns:m="http://schemas.openxmlformats.org/officeDocument/2006/math">
                    <m:r>
                      <a:rPr lang="ar-AE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r-AE" sz="2400" dirty="0"/>
                  <a:t>: </a:t>
                </a:r>
                <a:r>
                  <a:rPr lang="en-IN" sz="2400" dirty="0"/>
                  <a:t>parameters (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400" dirty="0"/>
                  <a:t>: learning rate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sz="24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ar-AE" sz="2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ar-AE" sz="2400" dirty="0"/>
                  <a:t>: </a:t>
                </a:r>
                <a:r>
                  <a:rPr lang="en-IN" sz="2400" dirty="0"/>
                  <a:t>gradient of loss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Think of rolling </a:t>
                </a:r>
                <a:r>
                  <a:rPr lang="en-IN" sz="2400" b="1" dirty="0"/>
                  <a:t>downhill on the loss surface</a:t>
                </a:r>
                <a:r>
                  <a:rPr lang="en-IN" sz="2400" dirty="0"/>
                  <a:t> until the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B4A0B-D3F7-5B34-7917-6C1D34BFC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2929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B8BF-DDBD-F12A-B970-78091ED0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32BD-801B-F7A9-B8FA-736FCBC1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0CF14-FFC7-7452-B983-B6176204B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Gradients for Logistic Regression</a:t>
                </a:r>
              </a:p>
              <a:p>
                <a:r>
                  <a:rPr lang="en-IN" sz="2400" dirty="0">
                    <a:solidFill>
                      <a:schemeClr val="tx1"/>
                    </a:solidFill>
                  </a:rPr>
                  <a:t>Using chain rule with sigmoid + cross-entropy, the gradients simplify neatly.</a:t>
                </a:r>
              </a:p>
              <a:p>
                <a:r>
                  <a:rPr lang="en-IN" sz="2400" b="1" dirty="0">
                    <a:solidFill>
                      <a:schemeClr val="tx1"/>
                    </a:solidFill>
                  </a:rPr>
                  <a:t>Gradient </a:t>
                </a:r>
                <a:r>
                  <a:rPr lang="en-IN" sz="2400" b="1" dirty="0" err="1">
                    <a:solidFill>
                      <a:schemeClr val="tx1"/>
                    </a:solidFill>
                  </a:rPr>
                  <a:t>w.r.t.</a:t>
                </a:r>
                <a:r>
                  <a:rPr lang="en-IN" sz="2400" b="1" dirty="0">
                    <a:solidFill>
                      <a:schemeClr val="tx1"/>
                    </a:solidFill>
                  </a:rPr>
                  <a:t> weights</a:t>
                </a: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r>
                  <a:rPr lang="en-IN" sz="2400" b="1" dirty="0">
                    <a:solidFill>
                      <a:schemeClr val="tx1"/>
                    </a:solidFill>
                  </a:rPr>
                  <a:t>Gradient w.r.t. bias</a:t>
                </a: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endParaRPr lang="en-IN" sz="2400" b="1" dirty="0">
                  <a:solidFill>
                    <a:schemeClr val="tx1"/>
                  </a:solidFill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</a:rPr>
                  <a:t>The term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is the </a:t>
                </a:r>
                <a:r>
                  <a:rPr lang="en-IN" sz="2400" b="1" dirty="0">
                    <a:solidFill>
                      <a:schemeClr val="tx1"/>
                    </a:solidFill>
                  </a:rPr>
                  <a:t>prediction error in probability space</a:t>
                </a:r>
                <a:r>
                  <a:rPr lang="en-IN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80CF14-FFC7-7452-B983-B6176204B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94490A-3D64-0257-756E-44B854BD6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17" y="2243350"/>
            <a:ext cx="3822958" cy="1561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AB5A64-67E1-9A4B-D43D-121898A74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818" y="3956965"/>
            <a:ext cx="3740163" cy="15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562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E3C5-302F-63C9-36C0-B9800846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6798-9C4A-6353-8C1A-CF61B740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73227-6C0B-5AC0-4E98-99E44175B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Update Rules</a:t>
                </a:r>
              </a:p>
              <a:p>
                <a:r>
                  <a:rPr lang="en-IN" sz="2400" dirty="0"/>
                  <a:t>With learning rate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400" dirty="0"/>
                  <a:t>:</a:t>
                </a:r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Each iteration:</a:t>
                </a: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</a:rPr>
                  <a:t>Compute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</a:rPr>
                  <a:t>Compute gradients</a:t>
                </a:r>
              </a:p>
              <a:p>
                <a:pPr lvl="1"/>
                <a:r>
                  <a:rPr lang="en-IN" dirty="0">
                    <a:solidFill>
                      <a:schemeClr val="tx1"/>
                    </a:solidFill>
                  </a:rPr>
                  <a:t>Update parameters</a:t>
                </a:r>
              </a:p>
              <a:p>
                <a:r>
                  <a:rPr lang="en-IN" sz="2400" dirty="0"/>
                  <a:t>Repeat until convergence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473227-6C0B-5AC0-4E98-99E44175B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64B4707-EC36-5721-936A-9234CBB03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00" y="1539824"/>
            <a:ext cx="4434440" cy="299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23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BA6E-A9B2-5273-8B4B-E5C6240B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E18D-E40D-AA37-04D4-76D67C98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6E90-ADF8-1E2F-69AE-6F9506502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5. Types of Gradient Descent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0C0BCF-7F8C-8AF2-CA7F-E6FDF0AE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844169"/>
              </p:ext>
            </p:extLst>
          </p:nvPr>
        </p:nvGraphicFramePr>
        <p:xfrm>
          <a:off x="838200" y="2181200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229149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299187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492430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8297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 used per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538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Batch GD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Entire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Stable, 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Slow for large 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27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Stochastic GD (SGD)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One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Fast, online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Noisy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41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Mini-batch GD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Small batch (e.g.,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Best trade-off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Needs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649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6549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E58C-A2A9-5ACB-D1A6-3C629D71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73E1-380B-F035-AAB8-F289D58D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Gradient Descent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6D252-A0AC-348E-94BD-2EF7DDDF5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6. Learning Rate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2400" b="1" dirty="0">
                    <a:solidFill>
                      <a:srgbClr val="C00000"/>
                    </a:solidFill>
                  </a:rPr>
                  <a:t>) Effects</a:t>
                </a:r>
              </a:p>
              <a:p>
                <a:r>
                  <a:rPr lang="en-IN" sz="2400" b="1" dirty="0"/>
                  <a:t>Too small</a:t>
                </a:r>
                <a:r>
                  <a:rPr lang="en-IN" sz="2400" dirty="0"/>
                  <a:t> → slow convergence</a:t>
                </a:r>
              </a:p>
              <a:p>
                <a:r>
                  <a:rPr lang="en-IN" sz="2400" b="1" dirty="0"/>
                  <a:t>Too large</a:t>
                </a:r>
                <a:r>
                  <a:rPr lang="en-IN" sz="2400" dirty="0"/>
                  <a:t> → divergence / oscillation</a:t>
                </a:r>
              </a:p>
              <a:p>
                <a:r>
                  <a:rPr lang="en-IN" sz="2400" dirty="0"/>
                  <a:t>Typical values: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IN" sz="2400" dirty="0"/>
                  <a:t>Often tuned using validation loss.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86D252-A0AC-348E-94BD-2EF7DDDF5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The Gradient Descent Algorithm. Optimization plays an eminent ...">
            <a:extLst>
              <a:ext uri="{FF2B5EF4-FFF2-40B4-BE49-F238E27FC236}">
                <a16:creationId xmlns:a16="http://schemas.microsoft.com/office/drawing/2014/main" id="{CD383BD8-A5B5-8D66-F8A2-ACFC3AFC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135" y="3610902"/>
            <a:ext cx="5079235" cy="316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4734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1101-8441-1BB6-63E5-7D532A43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2BA7-0856-7670-48F8-A9AC9AFF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50D4-F060-7E64-562B-AD744ED98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1. Why Do We Need Regularization?</a:t>
            </a:r>
          </a:p>
          <a:p>
            <a:r>
              <a:rPr lang="en-US" sz="2400" dirty="0"/>
              <a:t>In logistic regression, we minimize the </a:t>
            </a:r>
            <a:r>
              <a:rPr lang="en-US" sz="2400" b="1" dirty="0"/>
              <a:t>negative log-likelihood (cross-entropy)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Without constraints, the model may:</a:t>
            </a:r>
          </a:p>
          <a:p>
            <a:r>
              <a:rPr lang="en-US" sz="2400" dirty="0"/>
              <a:t>Fit </a:t>
            </a:r>
            <a:r>
              <a:rPr lang="en-US" sz="2400" b="1" dirty="0"/>
              <a:t>noise</a:t>
            </a:r>
            <a:r>
              <a:rPr lang="en-US" sz="2400" dirty="0"/>
              <a:t> in the training data</a:t>
            </a:r>
          </a:p>
          <a:p>
            <a:r>
              <a:rPr lang="en-US" sz="2400" dirty="0"/>
              <a:t>Learn </a:t>
            </a:r>
            <a:r>
              <a:rPr lang="en-US" sz="2400" b="1" dirty="0"/>
              <a:t>very large weights</a:t>
            </a:r>
            <a:endParaRPr lang="en-US" sz="2400" dirty="0"/>
          </a:p>
          <a:p>
            <a:r>
              <a:rPr lang="en-US" sz="2400" dirty="0"/>
              <a:t>Generalize </a:t>
            </a:r>
            <a:r>
              <a:rPr lang="en-US" sz="2400" b="1" dirty="0"/>
              <a:t>poorly</a:t>
            </a:r>
            <a:r>
              <a:rPr lang="en-US" sz="2400" dirty="0"/>
              <a:t> to unseen data</a:t>
            </a:r>
          </a:p>
          <a:p>
            <a:endParaRPr lang="en-US" sz="2400" b="1" dirty="0"/>
          </a:p>
          <a:p>
            <a:r>
              <a:rPr lang="en-US" sz="2400" b="1" dirty="0"/>
              <a:t>Regularization</a:t>
            </a:r>
            <a:r>
              <a:rPr lang="en-US" sz="2400" dirty="0"/>
              <a:t> adds a penalty on model complexity to control overfitting.</a:t>
            </a:r>
          </a:p>
        </p:txBody>
      </p:sp>
    </p:spTree>
    <p:extLst>
      <p:ext uri="{BB962C8B-B14F-4D97-AF65-F5344CB8AC3E}">
        <p14:creationId xmlns:p14="http://schemas.microsoft.com/office/powerpoint/2010/main" val="908316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2CD4-F763-D513-7A85-AD39BA43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BE41-4550-6255-18A5-11E98FEB1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1152BA-E6DB-B6E1-011D-3C0808C11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2. Regularized Objective Function (General Form)</a:t>
                </a:r>
              </a:p>
              <a:p>
                <a:r>
                  <a:rPr lang="en-IN" sz="2400" dirty="0"/>
                  <a:t>Unregularized loss: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With regularization:</a:t>
                </a:r>
              </a:p>
              <a:p>
                <a:pPr marL="0" indent="0">
                  <a:buNone/>
                </a:pPr>
                <a:endParaRPr lang="en-IN" sz="2400" b="0" dirty="0"/>
              </a:p>
              <a:p>
                <a:pPr marL="0" indent="0">
                  <a:buNone/>
                </a:pPr>
                <a:endParaRPr lang="ar-AE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ar-AE" sz="2400" dirty="0"/>
                  <a:t>: </a:t>
                </a:r>
                <a:r>
                  <a:rPr lang="en-IN" sz="2400" dirty="0"/>
                  <a:t>regularization term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240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IN" sz="2400" dirty="0"/>
                  <a:t>: regularization strength (hyperparameter)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Bias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is </a:t>
                </a:r>
                <a:r>
                  <a:rPr lang="en-IN" sz="2400" b="1" dirty="0"/>
                  <a:t>usually not regularized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1152BA-E6DB-B6E1-011D-3C0808C11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7638B0D-E5FE-3E64-794B-729E1FD02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088" y="1750773"/>
            <a:ext cx="7196026" cy="777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344DD5-2D4C-7553-CA77-B581B328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01" y="2867012"/>
            <a:ext cx="4784799" cy="85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694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68F1-7718-6FCD-17FF-23BA1274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3420-36A3-2C5B-FC3F-6D248B20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46A2B-1157-3BDA-3AC2-C4DD76114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L2 Regularization (Ridge / Weight Decay)</a:t>
                </a:r>
              </a:p>
              <a:p>
                <a:r>
                  <a:rPr lang="en-IN" sz="2400" b="1" dirty="0"/>
                  <a:t>Definition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=∥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sSubSup>
                            <m:sSub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Regularized loss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/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2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borderBox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46A2B-1157-3BDA-3AC2-C4DD76114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8917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295D-EA10-2E7E-832D-C3AEAA29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8B4A-765E-8063-7FBB-5DB36A55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AF337-D024-C9D5-79BD-80F82A4D6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L2 Regularization (Ridge / Weight Decay)</a:t>
                </a:r>
              </a:p>
              <a:p>
                <a:endParaRPr lang="en-IN" sz="2400" b="1" dirty="0"/>
              </a:p>
              <a:p>
                <a:r>
                  <a:rPr lang="en-IN" sz="2400" b="1" dirty="0"/>
                  <a:t>Effect on Optimization (Gradient)</a:t>
                </a:r>
              </a:p>
              <a:p>
                <a:r>
                  <a:rPr lang="en-IN" sz="2400" dirty="0"/>
                  <a:t>Gradient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/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ar-AE" sz="240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sz="2400" b="0" dirty="0"/>
              </a:p>
              <a:p>
                <a:r>
                  <a:rPr lang="en-IN" sz="2400" dirty="0"/>
                  <a:t>Update rule: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:=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𝜂𝜆</m:t>
                              </m:r>
                            </m:e>
                          </m:d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ar-AE" sz="24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  <a:p>
                <a:r>
                  <a:rPr lang="en-IN" sz="2400" dirty="0"/>
                  <a:t>This </a:t>
                </a:r>
                <a:r>
                  <a:rPr lang="en-IN" sz="2400" b="1" dirty="0"/>
                  <a:t>shrinks weights smoothly toward zero</a:t>
                </a:r>
                <a:r>
                  <a:rPr lang="en-IN" sz="2400" dirty="0"/>
                  <a:t> → called </a:t>
                </a:r>
                <a:r>
                  <a:rPr lang="en-IN" sz="2400" b="1" dirty="0"/>
                  <a:t>weight decay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AF337-D024-C9D5-79BD-80F82A4D6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5311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D23B-64DF-F89E-202E-A9D97831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8523-4126-32F7-90E3-DBE80C3B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77FC46-BD0C-9894-EA3B-B2923E1D85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L1 Regularization (Lasso)</a:t>
                </a:r>
              </a:p>
              <a:p>
                <a:pPr marL="0" indent="0">
                  <a:buNone/>
                </a:pPr>
                <a:endParaRPr lang="en-IN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l-GR" sz="2400">
                              <a:latin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=∥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</m:nary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borderBox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Regularized loss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sz="2400" i="1"/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1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sepChr m:val=",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grow m:val="on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</m:nary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borderBox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77FC46-BD0C-9894-EA3B-B2923E1D8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637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4D7C-CE8A-79C9-564D-BC8F38DB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E666-232A-51AA-4E3F-EB22AEEF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Regularization (L1 &amp; L2)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3E491-9389-4988-7B2E-519C72CAF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L1 Regularization (Lasso)</a:t>
                </a:r>
              </a:p>
              <a:p>
                <a:pPr marL="0" indent="0">
                  <a:buNone/>
                </a:pPr>
                <a:endParaRPr lang="en-IN" sz="2400" b="1" dirty="0"/>
              </a:p>
              <a:p>
                <a:r>
                  <a:rPr lang="en-IN" sz="2400" b="1" dirty="0"/>
                  <a:t>Effect on Optimization</a:t>
                </a:r>
              </a:p>
              <a:p>
                <a:r>
                  <a:rPr lang="en-IN" sz="2400" dirty="0"/>
                  <a:t>Gradient (</a:t>
                </a:r>
                <a:r>
                  <a:rPr lang="en-IN" sz="2400" dirty="0" err="1"/>
                  <a:t>subgradient</a:t>
                </a:r>
                <a:r>
                  <a:rPr lang="en-IN" sz="2400" dirty="0"/>
                  <a:t>):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undefined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use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subgradient</m:t>
                                </m:r>
                                <m:r>
                                  <m:rPr>
                                    <m:nor/>
                                  </m:rPr>
                                  <a:rPr lang="en-IN" sz="2400" i="1"/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endParaRPr lang="en-IN" sz="2400" dirty="0"/>
              </a:p>
              <a:p>
                <a:r>
                  <a:rPr lang="en-IN" sz="2400" dirty="0"/>
                  <a:t>Leads to </a:t>
                </a:r>
                <a:r>
                  <a:rPr lang="en-IN" sz="2400" b="1" dirty="0"/>
                  <a:t>exact zero weight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3E491-9389-4988-7B2E-519C72CAF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5199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F618-B6A7-3FD3-8798-6C685C80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1251-1A7C-3264-35EE-36A9038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E9C4-A7A9-2E24-D0AD-765121C02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1. Why Performance Metrics Matter</a:t>
            </a:r>
          </a:p>
          <a:p>
            <a:r>
              <a:rPr lang="en-US" sz="2400" dirty="0"/>
              <a:t>In logistic regression, the model outputs </a:t>
            </a:r>
            <a:r>
              <a:rPr lang="en-US" sz="2400" b="1" dirty="0"/>
              <a:t>probabilities</a:t>
            </a:r>
            <a:r>
              <a:rPr lang="en-US" sz="2400" dirty="0"/>
              <a:t>, but real-world decisions depend on </a:t>
            </a:r>
            <a:r>
              <a:rPr lang="en-US" sz="2400" b="1" dirty="0"/>
              <a:t>how good those predictions are</a:t>
            </a:r>
            <a:r>
              <a:rPr lang="en-US" sz="2400" dirty="0"/>
              <a:t>.</a:t>
            </a:r>
          </a:p>
          <a:p>
            <a:r>
              <a:rPr lang="en-US" sz="2400" dirty="0"/>
              <a:t>A single metric (like accuracy) is often </a:t>
            </a:r>
            <a:r>
              <a:rPr lang="en-US" sz="2400" b="1" dirty="0"/>
              <a:t>misleading</a:t>
            </a:r>
            <a:r>
              <a:rPr lang="en-US" sz="2400" dirty="0"/>
              <a:t>, especially when:</a:t>
            </a:r>
          </a:p>
          <a:p>
            <a:r>
              <a:rPr lang="en-US" sz="2400" dirty="0"/>
              <a:t>Classes are </a:t>
            </a:r>
            <a:r>
              <a:rPr lang="en-US" sz="2400" b="1" dirty="0"/>
              <a:t>imbalanced</a:t>
            </a:r>
            <a:endParaRPr lang="en-US" sz="2400" dirty="0"/>
          </a:p>
          <a:p>
            <a:r>
              <a:rPr lang="en-US" sz="2400" dirty="0"/>
              <a:t>Cost of errors is </a:t>
            </a:r>
            <a:r>
              <a:rPr lang="en-US" sz="2400" b="1" dirty="0"/>
              <a:t>unequal</a:t>
            </a:r>
            <a:r>
              <a:rPr lang="en-US" sz="2400" dirty="0"/>
              <a:t> (medical, fraud, intrusion detection)</a:t>
            </a:r>
          </a:p>
        </p:txBody>
      </p:sp>
    </p:spTree>
    <p:extLst>
      <p:ext uri="{BB962C8B-B14F-4D97-AF65-F5344CB8AC3E}">
        <p14:creationId xmlns:p14="http://schemas.microsoft.com/office/powerpoint/2010/main" val="35844711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DC23-B131-D7FD-F681-FF7612EC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AF4F-186F-A461-18DA-4F053B46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6E43-A909-F55B-29A7-4895972C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2. Confusion Matrix (Foundation of All Metrics)</a:t>
            </a:r>
          </a:p>
          <a:p>
            <a:r>
              <a:rPr lang="en-US" sz="2400" dirty="0"/>
              <a:t>For binary classification: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TP</a:t>
            </a:r>
            <a:r>
              <a:rPr lang="en-US" sz="2400" dirty="0"/>
              <a:t>: Correctly predicted positives</a:t>
            </a:r>
          </a:p>
          <a:p>
            <a:r>
              <a:rPr lang="en-US" sz="2400" b="1" dirty="0"/>
              <a:t>TN</a:t>
            </a:r>
            <a:r>
              <a:rPr lang="en-US" sz="2400" dirty="0"/>
              <a:t>: Correctly predicted negatives</a:t>
            </a:r>
          </a:p>
          <a:p>
            <a:r>
              <a:rPr lang="en-US" sz="2400" b="1" dirty="0"/>
              <a:t>FP</a:t>
            </a:r>
            <a:r>
              <a:rPr lang="en-US" sz="2400" dirty="0"/>
              <a:t>: False alarm</a:t>
            </a:r>
          </a:p>
          <a:p>
            <a:r>
              <a:rPr lang="en-US" sz="2400" b="1" dirty="0"/>
              <a:t>FN</a:t>
            </a:r>
            <a:r>
              <a:rPr lang="en-US" sz="2400" dirty="0"/>
              <a:t>: Missed detection</a:t>
            </a:r>
          </a:p>
          <a:p>
            <a:r>
              <a:rPr lang="en-US" sz="2400" dirty="0"/>
              <a:t>All performance metrics are derived from this table</a:t>
            </a:r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D3D02D-65C7-A018-D70F-A86C542C0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242314"/>
              </p:ext>
            </p:extLst>
          </p:nvPr>
        </p:nvGraphicFramePr>
        <p:xfrm>
          <a:off x="957943" y="2196729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556793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595470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01250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Predicted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92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Actual 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TP (True Positive)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FN (False Negative)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65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Actual 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FP (False Positive)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TN (True Negative)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137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0162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2D9-5399-CFBE-7159-4BC59C91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8EF8-011C-00DF-8D98-1DE0178B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4C66D-18AC-5E01-016E-C39482D2B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3. Accuracy</a:t>
                </a:r>
              </a:p>
              <a:p>
                <a:pPr marL="0" indent="0">
                  <a:buNone/>
                </a:pPr>
                <a:endParaRPr lang="en-IN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2400" b="0"/>
                            <m:t>Accuracy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𝑇𝑁</m:t>
                              </m:r>
                            </m:num>
                            <m:den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𝑇𝑁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b="0" dirty="0"/>
              </a:p>
              <a:p>
                <a:endParaRPr lang="en-IN" sz="2400" b="1" dirty="0"/>
              </a:p>
              <a:p>
                <a:r>
                  <a:rPr lang="en-IN" sz="2400" b="1" dirty="0"/>
                  <a:t>Interpretation: </a:t>
                </a:r>
                <a:r>
                  <a:rPr lang="en-IN" sz="2400" dirty="0"/>
                  <a:t>Fraction of total correct predictions</a:t>
                </a:r>
              </a:p>
              <a:p>
                <a:r>
                  <a:rPr lang="en-IN" sz="2400" b="1" dirty="0"/>
                  <a:t>Limitation: </a:t>
                </a:r>
                <a:r>
                  <a:rPr lang="en-IN" sz="2400" dirty="0"/>
                  <a:t>Misleading for </a:t>
                </a:r>
                <a:r>
                  <a:rPr lang="en-IN" sz="2400" b="1" dirty="0"/>
                  <a:t>imbalanced datasets</a:t>
                </a:r>
                <a:endParaRPr lang="en-IN" sz="2400" dirty="0"/>
              </a:p>
              <a:p>
                <a:endParaRPr lang="en-IN" sz="2400" dirty="0"/>
              </a:p>
              <a:p>
                <a:r>
                  <a:rPr lang="en-IN" sz="2400" dirty="0"/>
                  <a:t>Example: If 95% data is class 0, predicting “always 0” gives </a:t>
                </a:r>
                <a:r>
                  <a:rPr lang="en-IN" sz="2400" b="1" dirty="0"/>
                  <a:t>95% accuracy</a:t>
                </a:r>
                <a:r>
                  <a:rPr lang="en-IN" sz="2400" dirty="0"/>
                  <a:t> but is useless.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4C66D-18AC-5E01-016E-C39482D2B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7464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33699-EF07-F43C-6FA5-D3457503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97F8-51AB-F660-890C-4278EB53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3A018-035E-3BB4-7864-5D534084BC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4. Precision (Positive Predictive Value)</a:t>
                </a:r>
              </a:p>
              <a:p>
                <a:pPr marL="0" indent="0">
                  <a:buNone/>
                </a:pPr>
                <a:endParaRPr lang="en-IN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2400" b="0"/>
                            <m:t>Precision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num>
                            <m:den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b="0" dirty="0"/>
              </a:p>
              <a:p>
                <a:endParaRPr lang="en-IN" sz="2400" b="1" dirty="0"/>
              </a:p>
              <a:p>
                <a:r>
                  <a:rPr lang="en-IN" sz="2400" b="1" dirty="0"/>
                  <a:t>Interpretation: </a:t>
                </a:r>
                <a:r>
                  <a:rPr lang="en-IN" sz="2400" i="1" dirty="0"/>
                  <a:t>Of all predicted positives, how many are actually positive?</a:t>
                </a:r>
                <a:endParaRPr lang="en-IN" sz="2400" dirty="0"/>
              </a:p>
              <a:p>
                <a:r>
                  <a:rPr lang="en-IN" sz="2400" b="1" dirty="0"/>
                  <a:t>High precision means:</a:t>
                </a:r>
              </a:p>
              <a:p>
                <a:pPr lvl="1"/>
                <a:r>
                  <a:rPr lang="en-IN" dirty="0"/>
                  <a:t>Few false alarms</a:t>
                </a:r>
              </a:p>
              <a:p>
                <a:pPr lvl="1"/>
                <a:r>
                  <a:rPr lang="en-IN" dirty="0"/>
                  <a:t>Important when FP is costly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3A018-035E-3BB4-7864-5D534084B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056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5399-1B60-8E2B-64A5-55D3976F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EB69-285A-7A32-5916-E17613E6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CD8E69-C1C5-1EDC-DCBB-4625E2EFC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5. Recall (Sensitivity / True Positive Rate)</a:t>
                </a:r>
                <a:br>
                  <a:rPr lang="en-IN" sz="2400" b="1" dirty="0">
                    <a:solidFill>
                      <a:srgbClr val="C00000"/>
                    </a:solidFill>
                  </a:rPr>
                </a:br>
                <a:endParaRPr lang="en-IN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2400" b="0"/>
                            <m:t>Recall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num>
                            <m:den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b="0" dirty="0"/>
              </a:p>
              <a:p>
                <a:endParaRPr lang="en-IN" sz="2400" b="1" dirty="0"/>
              </a:p>
              <a:p>
                <a:r>
                  <a:rPr lang="en-IN" sz="2400" b="1" dirty="0"/>
                  <a:t>Interpretation: </a:t>
                </a:r>
                <a:r>
                  <a:rPr lang="en-IN" sz="2400" i="1" dirty="0"/>
                  <a:t>Of all actual positives, how many did we detect?</a:t>
                </a:r>
                <a:endParaRPr lang="en-IN" sz="2400" dirty="0"/>
              </a:p>
              <a:p>
                <a:r>
                  <a:rPr lang="en-IN" sz="2400" b="1" dirty="0"/>
                  <a:t> High recall means:</a:t>
                </a:r>
              </a:p>
              <a:p>
                <a:pPr lvl="1"/>
                <a:r>
                  <a:rPr lang="en-IN" dirty="0"/>
                  <a:t>Few missed positives</a:t>
                </a:r>
              </a:p>
              <a:p>
                <a:pPr lvl="1"/>
                <a:r>
                  <a:rPr lang="en-IN" dirty="0"/>
                  <a:t>Important when FN is costly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CD8E69-C1C5-1EDC-DCBB-4625E2EFC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0022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2F0E-64C4-504A-2CD7-A16185CD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7E3E-BEA8-655E-B944-9EA4A14B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ABA9E-56C5-2B99-9F7F-F376CFB511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6. Precision–Recall Trade-off</a:t>
                </a:r>
              </a:p>
              <a:p>
                <a:r>
                  <a:rPr lang="en-US" sz="2400" dirty="0"/>
                  <a:t>Increasing recall → often decreases precision</a:t>
                </a:r>
              </a:p>
              <a:p>
                <a:r>
                  <a:rPr lang="en-US" sz="2400" dirty="0"/>
                  <a:t>Increasing precision → often decreases recall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Controlled by </a:t>
                </a:r>
                <a:r>
                  <a:rPr lang="en-US" sz="2400" b="1" dirty="0"/>
                  <a:t>decision threshold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Lower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→ higher recall, lower precision</a:t>
                </a:r>
              </a:p>
              <a:p>
                <a:r>
                  <a:rPr lang="en-US" sz="2400" dirty="0"/>
                  <a:t>Higher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→ higher precision, lower recall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ABA9E-56C5-2B99-9F7F-F376CFB51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7862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926E-6C1C-3AB1-C219-A9B9ABEE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8171-994B-2289-23D9-91D8E9A5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C6EEB-373F-1D4D-53EB-69B280C5A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7. F1-Score (Harmonic Mean)</a:t>
                </a:r>
              </a:p>
              <a:p>
                <a:pPr marL="0" indent="0">
                  <a:buNone/>
                </a:pPr>
                <a:endParaRPr lang="en-I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1=2⋅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IN" sz="2400" i="1"/>
                                <m:t>Precision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Recall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IN" sz="2400" i="1"/>
                                <m:t>Precision</m:t>
                              </m:r>
                              <m:r>
                                <a:rPr lang="en-IN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IN" sz="2400" i="1"/>
                                <m:t>Recall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b="0" dirty="0"/>
              </a:p>
              <a:p>
                <a:r>
                  <a:rPr lang="en-IN" sz="2400" b="1" dirty="0"/>
                  <a:t>Why harmonic mean?</a:t>
                </a:r>
              </a:p>
              <a:p>
                <a:pPr lvl="1"/>
                <a:r>
                  <a:rPr lang="en-IN" dirty="0"/>
                  <a:t>Penalizes extreme imbalance</a:t>
                </a:r>
              </a:p>
              <a:p>
                <a:pPr lvl="1"/>
                <a:r>
                  <a:rPr lang="en-IN" dirty="0"/>
                  <a:t>Requires both precision and recall to be high</a:t>
                </a:r>
              </a:p>
              <a:p>
                <a:r>
                  <a:rPr lang="en-IN" sz="2400" dirty="0"/>
                  <a:t>Best when:</a:t>
                </a:r>
              </a:p>
              <a:p>
                <a:pPr lvl="1"/>
                <a:r>
                  <a:rPr lang="en-IN" dirty="0"/>
                  <a:t>Data is imbalanced</a:t>
                </a:r>
              </a:p>
              <a:p>
                <a:pPr lvl="1"/>
                <a:r>
                  <a:rPr lang="en-IN" dirty="0"/>
                  <a:t>Both FP and FN matter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C6EEB-373F-1D4D-53EB-69B280C5A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0204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C0AB-DA2F-64AE-4739-B6388AEA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91F7-2175-0238-D170-0343870A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6E705-8859-6C48-CF26-0FE1A54F9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8. Specificity (True Negative Rate)</a:t>
                </a:r>
              </a:p>
              <a:p>
                <a:pPr marL="0" indent="0">
                  <a:buNone/>
                </a:pPr>
                <a:endParaRPr lang="en-IN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2400" b="0"/>
                            <m:t>Specificity</m:t>
                          </m:r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𝑇𝑁</m:t>
                              </m:r>
                            </m:num>
                            <m:den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𝑇𝑁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 lang="ar-AE" sz="2400" b="0" dirty="0"/>
              </a:p>
              <a:p>
                <a:endParaRPr lang="en-IN" sz="2400" b="1" dirty="0"/>
              </a:p>
              <a:p>
                <a:r>
                  <a:rPr lang="en-IN" sz="2400" b="1" dirty="0"/>
                  <a:t>Interpretation: </a:t>
                </a:r>
                <a:r>
                  <a:rPr lang="en-IN" sz="2400" i="1" dirty="0"/>
                  <a:t>How well the model identifies negatives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6E705-8859-6C48-CF26-0FE1A54F9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0644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2AC4-B35E-170A-5564-1F43DF03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53C1-0A1C-E5B9-A25F-AF3370317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AFA1F9-C51E-B73C-CFA0-1B2A562D6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9. ROC Curve (Receiver Operating Characteristic)</a:t>
                </a:r>
              </a:p>
              <a:p>
                <a:r>
                  <a:rPr lang="en-IN" sz="2400" b="1" dirty="0"/>
                  <a:t>Axes</a:t>
                </a:r>
              </a:p>
              <a:p>
                <a:r>
                  <a:rPr lang="en-IN" sz="2400" b="1" dirty="0"/>
                  <a:t>X-axis</a:t>
                </a:r>
                <a:r>
                  <a:rPr lang="en-IN" sz="2400" dirty="0"/>
                  <a:t>: False Positive Rate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𝐹𝑃𝑅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endParaRPr lang="ar-AE" sz="2400" dirty="0"/>
              </a:p>
              <a:p>
                <a:r>
                  <a:rPr lang="en-IN" sz="2400" b="1" dirty="0"/>
                  <a:t>Y-axis</a:t>
                </a:r>
                <a:r>
                  <a:rPr lang="en-IN" sz="2400" dirty="0"/>
                  <a:t>: True Positive Rate (Recall)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Each point corresponds to a </a:t>
                </a:r>
                <a:r>
                  <a:rPr lang="en-IN" sz="2400" b="1" dirty="0"/>
                  <a:t>different threshold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AFA1F9-C51E-B73C-CFA0-1B2A562D6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7349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A9F1-01DF-EA3E-3E33-E926B35A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4DC6-10EC-7F8F-4875-026A05CE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43E9A-928C-4529-D464-4FF9DD505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10. AUC (Area Under the ROC Curve)</a:t>
                </a:r>
              </a:p>
              <a:p>
                <a:r>
                  <a:rPr lang="en-IN" sz="2400" b="1" dirty="0"/>
                  <a:t>Meaning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m:rPr>
                            <m:nor/>
                          </m:rPr>
                          <a:rPr lang="en-IN" sz="2400" b="0"/>
                          <m:t>AUC</m:t>
                        </m:r>
                        <m:r>
                          <a:rPr lang="en-IN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sz="2400" i="1"/>
                              <m:t>model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ranks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random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positive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higher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than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a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random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i="1"/>
                              <m:t>negative</m:t>
                            </m:r>
                          </m:e>
                        </m:d>
                      </m:e>
                    </m:borderBox>
                  </m:oMath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43E9A-928C-4529-D464-4FF9DD505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77" y="1219202"/>
                <a:ext cx="11081666" cy="5170712"/>
              </a:xfrm>
              <a:blipFill>
                <a:blip r:embed="rId2"/>
                <a:stretch>
                  <a:fillRect l="-825" t="-1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08AF5-448A-B277-7752-E038958D0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92145"/>
              </p:ext>
            </p:extLst>
          </p:nvPr>
        </p:nvGraphicFramePr>
        <p:xfrm>
          <a:off x="3200400" y="3076008"/>
          <a:ext cx="65532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43450">
                  <a:extLst>
                    <a:ext uri="{9D8B030D-6E8A-4147-A177-3AD203B41FA5}">
                      <a16:colId xmlns:a16="http://schemas.microsoft.com/office/drawing/2014/main" val="2573444224"/>
                    </a:ext>
                  </a:extLst>
                </a:gridCol>
                <a:gridCol w="4809750">
                  <a:extLst>
                    <a:ext uri="{9D8B030D-6E8A-4147-A177-3AD203B41FA5}">
                      <a16:colId xmlns:a16="http://schemas.microsoft.com/office/drawing/2014/main" val="3870116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133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Random guessing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698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0.7–0.8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0.8–0.9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Very 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35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&gt; 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79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1821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9EF6-C8AF-3B52-3BFE-A04DD0BF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10A7-5B31-EAF9-CE26-756564C1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ABDA-99A0-470E-5D60-D78CFCD03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11. Log Loss (Cross-Entropy Loss)</a:t>
            </a:r>
          </a:p>
          <a:p>
            <a:r>
              <a:rPr lang="en-IN" sz="2400" dirty="0"/>
              <a:t>Since logistic regression outputs probabilities: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Measures </a:t>
            </a:r>
            <a:r>
              <a:rPr lang="en-IN" sz="2400" b="1" dirty="0"/>
              <a:t>probability calibration</a:t>
            </a:r>
            <a:endParaRPr lang="en-IN" sz="2400" dirty="0"/>
          </a:p>
          <a:p>
            <a:r>
              <a:rPr lang="en-IN" sz="2400" dirty="0"/>
              <a:t>Penalizes confident wrong predictions</a:t>
            </a:r>
          </a:p>
          <a:p>
            <a:endParaRPr lang="en-IN" sz="2400" dirty="0"/>
          </a:p>
          <a:p>
            <a:r>
              <a:rPr lang="en-IN" sz="2400" dirty="0"/>
              <a:t>Lower log loss = better probability estimates.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A8678-87E5-D4B0-53D6-915E1B91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765" y="2152172"/>
            <a:ext cx="7309822" cy="144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650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FE0C-41DC-B5D9-2CDE-8375A120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BA27-1B8B-1E1D-740F-83AC094E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69178"/>
            <a:ext cx="11593293" cy="8976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45B72-9677-1CC0-F458-AFA4DE2A7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77" y="1219202"/>
            <a:ext cx="11081666" cy="5170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12. Choosing the Right Metric 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D74F1-7452-9555-08BF-6DD9BD36F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003409"/>
              </p:ext>
            </p:extLst>
          </p:nvPr>
        </p:nvGraphicFramePr>
        <p:xfrm>
          <a:off x="1850572" y="2512128"/>
          <a:ext cx="8273144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36572">
                  <a:extLst>
                    <a:ext uri="{9D8B030D-6E8A-4147-A177-3AD203B41FA5}">
                      <a16:colId xmlns:a16="http://schemas.microsoft.com/office/drawing/2014/main" val="1106299180"/>
                    </a:ext>
                  </a:extLst>
                </a:gridCol>
                <a:gridCol w="4136572">
                  <a:extLst>
                    <a:ext uri="{9D8B030D-6E8A-4147-A177-3AD203B41FA5}">
                      <a16:colId xmlns:a16="http://schemas.microsoft.com/office/drawing/2014/main" val="3884416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Preferred 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98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Medical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73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Fraud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97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Imbalanced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96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Threshold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ROC–AUC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2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Probability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Log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87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524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A08A3-AB97-1F87-01B7-6DADCD8B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22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003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3385</TotalTime>
  <Words>3842</Words>
  <Application>Microsoft Office PowerPoint</Application>
  <PresentationFormat>Widescreen</PresentationFormat>
  <Paragraphs>915</Paragraphs>
  <Slides>88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Office Theme</vt:lpstr>
      <vt:lpstr>Logistic Regression</vt:lpstr>
      <vt:lpstr>Outline</vt:lpstr>
      <vt:lpstr>Outline</vt:lpstr>
      <vt:lpstr>Introduction &amp; Motivation</vt:lpstr>
      <vt:lpstr>Introduction &amp; Motivation</vt:lpstr>
      <vt:lpstr>Introduction &amp; Motivation</vt:lpstr>
      <vt:lpstr>Introduction &amp; Motivation</vt:lpstr>
      <vt:lpstr>Introduction &amp; Motivation</vt:lpstr>
      <vt:lpstr>Introduction &amp; Motivation</vt:lpstr>
      <vt:lpstr>Introduction &amp; Motivation</vt:lpstr>
      <vt:lpstr>Linear Regression Limitation for Classification </vt:lpstr>
      <vt:lpstr>Linear Regression Limitation for Classification </vt:lpstr>
      <vt:lpstr>Linear Regression Limitation for Classification </vt:lpstr>
      <vt:lpstr>Linear Regression Limitation for Classification </vt:lpstr>
      <vt:lpstr>Linear Regression Limitation for Classification </vt:lpstr>
      <vt:lpstr>Linear Regression Limitation for Classification </vt:lpstr>
      <vt:lpstr>Linear Regression Limitation for Classification </vt:lpstr>
      <vt:lpstr>Linear Regression Limitation for Classification </vt:lpstr>
      <vt:lpstr>Logistic Function &amp; Probability Interpretation</vt:lpstr>
      <vt:lpstr>Logistic Function &amp; Probability Interpretation</vt:lpstr>
      <vt:lpstr>Logistic Function &amp; Probability Interpretation</vt:lpstr>
      <vt:lpstr>Logistic Function &amp; Probability Interpretation</vt:lpstr>
      <vt:lpstr>Logistic Function &amp; Probability Interpretation</vt:lpstr>
      <vt:lpstr>Logistic Function &amp; Probability Interpretation</vt:lpstr>
      <vt:lpstr>Logistic Function &amp; Probability Interpretation</vt:lpstr>
      <vt:lpstr>Logistic Function &amp; Probability Interpretation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Mathematical Model for Logistic Function</vt:lpstr>
      <vt:lpstr>Decision Boundary &amp; Geometry</vt:lpstr>
      <vt:lpstr>Decision Boundary &amp; Geometry</vt:lpstr>
      <vt:lpstr>Decision Boundary &amp; Geometry</vt:lpstr>
      <vt:lpstr>Decision Boundary &amp; Geometry</vt:lpstr>
      <vt:lpstr>Decision Boundary &amp; Geometry</vt:lpstr>
      <vt:lpstr>Decision Boundary &amp; Geometry</vt:lpstr>
      <vt:lpstr>Decision Boundary &amp; Geometry</vt:lpstr>
      <vt:lpstr>Decision Boundary &amp; Geometry</vt:lpstr>
      <vt:lpstr>Decision Boundary &amp; Geometry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Loss Function for Logistic Regression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Maximum Likelihood Estimation (MLE)</vt:lpstr>
      <vt:lpstr>Gradient Descent Optimization</vt:lpstr>
      <vt:lpstr>Gradient Descent Optimization</vt:lpstr>
      <vt:lpstr>Gradient Descent Optimization</vt:lpstr>
      <vt:lpstr>Gradient Descent Optimization</vt:lpstr>
      <vt:lpstr>Gradient Descent Optimization</vt:lpstr>
      <vt:lpstr>Gradient Descent Optimization</vt:lpstr>
      <vt:lpstr>Regularization (L1 &amp; L2)</vt:lpstr>
      <vt:lpstr>Regularization (L1 &amp; L2)</vt:lpstr>
      <vt:lpstr>Regularization (L1 &amp; L2)</vt:lpstr>
      <vt:lpstr>Regularization (L1 &amp; L2)</vt:lpstr>
      <vt:lpstr>Regularization (L1 &amp; L2)</vt:lpstr>
      <vt:lpstr>Regularization (L1 &amp; L2)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creator>Tarachand Amgoth</dc:creator>
  <cp:lastModifiedBy>Vaishnavi sree Ravva</cp:lastModifiedBy>
  <cp:revision>14</cp:revision>
  <dcterms:created xsi:type="dcterms:W3CDTF">2025-05-17T16:52:08Z</dcterms:created>
  <dcterms:modified xsi:type="dcterms:W3CDTF">2026-02-27T15:02:34Z</dcterms:modified>
</cp:coreProperties>
</file>